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4" name="Itzik Meir"/>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FAAC569-7433-4562-A9E7-05175CB6C9B2}">
  <a:tblStyle styleId="{2FAAC569-7433-4562-A9E7-05175CB6C9B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7467B86-B247-44AC-B5B8-EDB4B38FAFC2}"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1-10T04:20:54.026">
    <p:pos x="6000" y="0"/>
    <p:text>@muhammadhajali0310@gmail.com 
כאן יופיע סרטון הדרכה קצר
צריך לראות שרץ בצורה טובה ולא נתקע
_Assigned to you_</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11-10T04:21:34.149">
    <p:pos x="365" y="273"/>
    <p:text>עדכון טקסט
@muhammadhajali0310@gmail.com
_Assigned to you_</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5-11-10T04:22:53.600">
    <p:pos x="110" y="273"/>
    <p:text>@muhammadhajali0310@gmail.com 
שינוי נוסף הוא חלוקה ל2 בלוקים של ניסוי כאשר בכל בלוק ירוצו 4-5 תרחישים שלאחר כל תרחיש יש שאלון ובסיום כל בלוק יש שאלון אחר
שאלון סיכום נותא בעינו
_Assigned to you_</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5-11-10T04:28:41.470">
    <p:pos x="110" y="273"/>
    <p:text>@muhammadhajali0310@gmail.com 
כאן מתחיל בלוק שני של תרחישים
_Assigned to you_</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0519e37c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a0519e37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0519e37cd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0519e37cd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a0519e37cd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a0519e37cd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a0519e37cd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a0519e37cd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1e08ddb5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1e08ddb5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a0519e37cd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a0519e37cd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a0519e37cd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a0519e37cd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0519e37cd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a0519e37cd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0519e37cd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0519e37cd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0519e37cd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0519e37cd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1e08ddb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1e08ddb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0519e37c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a0519e37c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a0519e37cd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a0519e37cd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a0519e37cd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a0519e37cd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0519e37c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a0519e37c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a0519e37c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a0519e37c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a0519e37cd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a0519e37cd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a1e08ddb5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a1e08ddb5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a0519e37c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a0519e37c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a1e08ddb5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a1e08ddb5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a1e08ddb5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a1e08ddb5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a0519e37cd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a0519e37cd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a1e08ddb5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a1e08ddb5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a0519e37cd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a0519e37cd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a0519e37cd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a0519e37cd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af9f5a3324d7ff7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1af9f5a3324d7ff7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a977df160969dc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a977df160969dc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a977df160969dc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a977df160969dc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a977df160969dc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a977df160969dc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130150"/>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702850"/>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with image">
  <p:cSld name="TITLE_AND_BODY_1">
    <p:spTree>
      <p:nvGrpSpPr>
        <p:cNvPr id="20" name="Shape 20"/>
        <p:cNvGrpSpPr/>
        <p:nvPr/>
      </p:nvGrpSpPr>
      <p:grpSpPr>
        <a:xfrm>
          <a:off x="0" y="0"/>
          <a:ext cx="0" cy="0"/>
          <a:chOff x="0" y="0"/>
          <a:chExt cx="0" cy="0"/>
        </a:xfrm>
      </p:grpSpPr>
      <p:sp>
        <p:nvSpPr>
          <p:cNvPr id="21" name="Google Shape;21;p5"/>
          <p:cNvSpPr txBox="1"/>
          <p:nvPr>
            <p:ph type="title"/>
          </p:nvPr>
        </p:nvSpPr>
        <p:spPr>
          <a:xfrm>
            <a:off x="311700" y="224600"/>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28323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7"/>
          <p:cNvSpPr txBox="1"/>
          <p:nvPr>
            <p:ph type="title"/>
          </p:nvPr>
        </p:nvSpPr>
        <p:spPr>
          <a:xfrm>
            <a:off x="311700" y="12227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2" name="Shape 32"/>
        <p:cNvGrpSpPr/>
        <p:nvPr/>
      </p:nvGrpSpPr>
      <p:grpSpPr>
        <a:xfrm>
          <a:off x="0" y="0"/>
          <a:ext cx="0" cy="0"/>
          <a:chOff x="0" y="0"/>
          <a:chExt cx="0" cy="0"/>
        </a:xfrm>
      </p:grpSpPr>
      <p:sp>
        <p:nvSpPr>
          <p:cNvPr id="33" name="Google Shape;33;p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8"/>
          <p:cNvSpPr txBox="1"/>
          <p:nvPr>
            <p:ph idx="1" type="body"/>
          </p:nvPr>
        </p:nvSpPr>
        <p:spPr>
          <a:xfrm>
            <a:off x="311700" y="1389600"/>
            <a:ext cx="24645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8" name="Google Shape;38;p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0" name="Shape 40"/>
        <p:cNvGrpSpPr/>
        <p:nvPr/>
      </p:nvGrpSpPr>
      <p:grpSpPr>
        <a:xfrm>
          <a:off x="0" y="0"/>
          <a:ext cx="0" cy="0"/>
          <a:chOff x="0" y="0"/>
          <a:chExt cx="0" cy="0"/>
        </a:xfrm>
      </p:grpSpPr>
      <p:sp>
        <p:nvSpPr>
          <p:cNvPr id="41" name="Google Shape;41;p1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1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1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6" name="Google Shape;46;p1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7" name="Google Shape;47;p1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4" name="Google Shape;54;p1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Vertical Title and Text">
  <p:cSld name="1_Vertical Title and Text">
    <p:spTree>
      <p:nvGrpSpPr>
        <p:cNvPr id="58" name="Shape 58"/>
        <p:cNvGrpSpPr/>
        <p:nvPr/>
      </p:nvGrpSpPr>
      <p:grpSpPr>
        <a:xfrm>
          <a:off x="0" y="0"/>
          <a:ext cx="0" cy="0"/>
          <a:chOff x="0" y="0"/>
          <a:chExt cx="0" cy="0"/>
        </a:xfrm>
      </p:grpSpPr>
      <p:pic>
        <p:nvPicPr>
          <p:cNvPr id="59" name="Google Shape;59;p15"/>
          <p:cNvPicPr preferRelativeResize="0"/>
          <p:nvPr/>
        </p:nvPicPr>
        <p:blipFill rotWithShape="1">
          <a:blip r:embed="rId2">
            <a:alphaModFix/>
          </a:blip>
          <a:srcRect b="0" l="0" r="0" t="0"/>
          <a:stretch/>
        </p:blipFill>
        <p:spPr>
          <a:xfrm>
            <a:off x="409867" y="0"/>
            <a:ext cx="8324268" cy="5143502"/>
          </a:xfrm>
          <a:prstGeom prst="rect">
            <a:avLst/>
          </a:prstGeom>
          <a:noFill/>
          <a:ln cap="flat" cmpd="sng" w="7150">
            <a:solidFill>
              <a:schemeClr val="dk1"/>
            </a:solidFill>
            <a:prstDash val="solid"/>
            <a:round/>
            <a:headEnd len="sm" w="sm" type="none"/>
            <a:tailEnd len="sm" w="sm" type="none"/>
          </a:ln>
        </p:spPr>
      </p:pic>
      <p:sp>
        <p:nvSpPr>
          <p:cNvPr id="60" name="Google Shape;60;p15"/>
          <p:cNvSpPr/>
          <p:nvPr/>
        </p:nvSpPr>
        <p:spPr>
          <a:xfrm>
            <a:off x="4843439" y="811638"/>
            <a:ext cx="2553000" cy="2553000"/>
          </a:xfrm>
          <a:prstGeom prst="ellipse">
            <a:avLst/>
          </a:prstGeom>
          <a:solidFill>
            <a:srgbClr val="F2F2F2">
              <a:alpha val="27840"/>
            </a:srgbClr>
          </a:solidFill>
          <a:ln cap="flat" cmpd="sng" w="71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1" name="Google Shape;61;p15"/>
          <p:cNvSpPr/>
          <p:nvPr/>
        </p:nvSpPr>
        <p:spPr>
          <a:xfrm>
            <a:off x="1071647" y="823356"/>
            <a:ext cx="2054700" cy="2054700"/>
          </a:xfrm>
          <a:prstGeom prst="ellipse">
            <a:avLst/>
          </a:prstGeom>
          <a:solidFill>
            <a:srgbClr val="F2F2F2">
              <a:alpha val="27840"/>
            </a:srgbClr>
          </a:solidFill>
          <a:ln cap="flat" cmpd="sng" w="71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62" name="Google Shape;62;p15"/>
          <p:cNvGrpSpPr/>
          <p:nvPr/>
        </p:nvGrpSpPr>
        <p:grpSpPr>
          <a:xfrm>
            <a:off x="835436" y="671804"/>
            <a:ext cx="5091836" cy="3380014"/>
            <a:chOff x="1113914" y="895739"/>
            <a:chExt cx="6789114" cy="4506685"/>
          </a:xfrm>
        </p:grpSpPr>
        <p:sp>
          <p:nvSpPr>
            <p:cNvPr id="63" name="Google Shape;63;p15"/>
            <p:cNvSpPr/>
            <p:nvPr/>
          </p:nvSpPr>
          <p:spPr>
            <a:xfrm>
              <a:off x="6961179" y="2389904"/>
              <a:ext cx="941849" cy="3012520"/>
            </a:xfrm>
            <a:custGeom>
              <a:rect b="b" l="l" r="r" t="t"/>
              <a:pathLst>
                <a:path extrusionOk="0" h="3012520" w="941849">
                  <a:moveTo>
                    <a:pt x="941849" y="3012520"/>
                  </a:moveTo>
                  <a:lnTo>
                    <a:pt x="885865" y="2406031"/>
                  </a:lnTo>
                  <a:lnTo>
                    <a:pt x="661930" y="1631590"/>
                  </a:lnTo>
                  <a:cubicBezTo>
                    <a:pt x="571810" y="1367887"/>
                    <a:pt x="482098" y="1042479"/>
                    <a:pt x="371776" y="770547"/>
                  </a:cubicBezTo>
                  <a:cubicBezTo>
                    <a:pt x="261454" y="498615"/>
                    <a:pt x="57524" y="137302"/>
                    <a:pt x="0" y="0"/>
                  </a:cubicBezTo>
                </a:path>
              </a:pathLst>
            </a:custGeom>
            <a:noFill/>
            <a:ln cap="flat" cmpd="tri" w="64300">
              <a:solidFill>
                <a:srgbClr val="FF0000"/>
              </a:solidFill>
              <a:prstDash val="dot"/>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4" name="Google Shape;64;p15"/>
            <p:cNvSpPr/>
            <p:nvPr/>
          </p:nvSpPr>
          <p:spPr>
            <a:xfrm>
              <a:off x="4114800" y="1371600"/>
              <a:ext cx="1352939" cy="3247053"/>
            </a:xfrm>
            <a:custGeom>
              <a:rect b="b" l="l" r="r" t="t"/>
              <a:pathLst>
                <a:path extrusionOk="0" h="3247053" w="1352939">
                  <a:moveTo>
                    <a:pt x="0" y="3247053"/>
                  </a:moveTo>
                  <a:lnTo>
                    <a:pt x="1119673" y="615820"/>
                  </a:lnTo>
                  <a:lnTo>
                    <a:pt x="1352939" y="0"/>
                  </a:lnTo>
                </a:path>
              </a:pathLst>
            </a:custGeom>
            <a:noFill/>
            <a:ln cap="flat" cmpd="tri" w="64300">
              <a:solidFill>
                <a:srgbClr val="FF0000"/>
              </a:solidFill>
              <a:prstDash val="dash"/>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5" name="Google Shape;65;p15"/>
            <p:cNvSpPr/>
            <p:nvPr/>
          </p:nvSpPr>
          <p:spPr>
            <a:xfrm>
              <a:off x="1884784" y="895739"/>
              <a:ext cx="1502228" cy="1604865"/>
            </a:xfrm>
            <a:custGeom>
              <a:rect b="b" l="l" r="r" t="t"/>
              <a:pathLst>
                <a:path extrusionOk="0" h="1604865" w="1502228">
                  <a:moveTo>
                    <a:pt x="0" y="1604865"/>
                  </a:moveTo>
                  <a:lnTo>
                    <a:pt x="783771" y="0"/>
                  </a:lnTo>
                  <a:lnTo>
                    <a:pt x="1203649" y="130628"/>
                  </a:lnTo>
                  <a:lnTo>
                    <a:pt x="1502228" y="186612"/>
                  </a:lnTo>
                </a:path>
              </a:pathLst>
            </a:custGeom>
            <a:noFill/>
            <a:ln cap="flat" cmpd="tri" w="64300">
              <a:solidFill>
                <a:srgbClr val="FF0000"/>
              </a:solidFill>
              <a:prstDash val="dot"/>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6" name="Google Shape;66;p15"/>
            <p:cNvSpPr/>
            <p:nvPr/>
          </p:nvSpPr>
          <p:spPr>
            <a:xfrm>
              <a:off x="1113914" y="4055009"/>
              <a:ext cx="1684033" cy="723941"/>
            </a:xfrm>
            <a:custGeom>
              <a:rect b="b" l="l" r="r" t="t"/>
              <a:pathLst>
                <a:path extrusionOk="0" h="723941" w="1684033">
                  <a:moveTo>
                    <a:pt x="1684033" y="723941"/>
                  </a:moveTo>
                  <a:cubicBezTo>
                    <a:pt x="1113262" y="510907"/>
                    <a:pt x="561344" y="241314"/>
                    <a:pt x="0" y="0"/>
                  </a:cubicBezTo>
                </a:path>
              </a:pathLst>
            </a:custGeom>
            <a:noFill/>
            <a:ln cap="flat" cmpd="tri" w="64300">
              <a:solidFill>
                <a:srgbClr val="FF0000"/>
              </a:solidFill>
              <a:prstDash val="lgDash"/>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Vertical Title and Text">
  <p:cSld name="2_Vertical Title and Text">
    <p:spTree>
      <p:nvGrpSpPr>
        <p:cNvPr id="67" name="Shape 67"/>
        <p:cNvGrpSpPr/>
        <p:nvPr/>
      </p:nvGrpSpPr>
      <p:grpSpPr>
        <a:xfrm>
          <a:off x="0" y="0"/>
          <a:ext cx="0" cy="0"/>
          <a:chOff x="0" y="0"/>
          <a:chExt cx="0" cy="0"/>
        </a:xfrm>
      </p:grpSpPr>
      <p:pic>
        <p:nvPicPr>
          <p:cNvPr id="68" name="Google Shape;68;p16"/>
          <p:cNvPicPr preferRelativeResize="0"/>
          <p:nvPr/>
        </p:nvPicPr>
        <p:blipFill rotWithShape="1">
          <a:blip r:embed="rId2">
            <a:alphaModFix/>
          </a:blip>
          <a:srcRect b="0" l="11790" r="-11790" t="0"/>
          <a:stretch/>
        </p:blipFill>
        <p:spPr>
          <a:xfrm>
            <a:off x="409867" y="0"/>
            <a:ext cx="8324268" cy="5143502"/>
          </a:xfrm>
          <a:prstGeom prst="rect">
            <a:avLst/>
          </a:prstGeom>
          <a:noFill/>
          <a:ln cap="flat" cmpd="sng" w="7150">
            <a:solidFill>
              <a:schemeClr val="dk1"/>
            </a:solidFill>
            <a:prstDash val="solid"/>
            <a:round/>
            <a:headEnd len="sm" w="sm" type="none"/>
            <a:tailEnd len="sm" w="sm" type="none"/>
          </a:ln>
        </p:spPr>
      </p:pic>
      <p:sp>
        <p:nvSpPr>
          <p:cNvPr id="69" name="Google Shape;69;p16"/>
          <p:cNvSpPr/>
          <p:nvPr/>
        </p:nvSpPr>
        <p:spPr>
          <a:xfrm>
            <a:off x="3867485" y="795689"/>
            <a:ext cx="2553000" cy="2553000"/>
          </a:xfrm>
          <a:prstGeom prst="ellipse">
            <a:avLst/>
          </a:prstGeom>
          <a:solidFill>
            <a:srgbClr val="F2F2F2">
              <a:alpha val="27840"/>
            </a:srgbClr>
          </a:solidFill>
          <a:ln cap="flat" cmpd="sng" w="71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0" name="Google Shape;70;p16"/>
          <p:cNvSpPr/>
          <p:nvPr/>
        </p:nvSpPr>
        <p:spPr>
          <a:xfrm>
            <a:off x="95692" y="807407"/>
            <a:ext cx="2054700" cy="2054700"/>
          </a:xfrm>
          <a:prstGeom prst="ellipse">
            <a:avLst/>
          </a:prstGeom>
          <a:solidFill>
            <a:srgbClr val="F2F2F2">
              <a:alpha val="27840"/>
            </a:srgbClr>
          </a:solidFill>
          <a:ln cap="flat" cmpd="sng" w="7150">
            <a:solidFill>
              <a:srgbClr val="08283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nvGrpSpPr>
          <p:cNvPr id="71" name="Google Shape;71;p16"/>
          <p:cNvGrpSpPr/>
          <p:nvPr/>
        </p:nvGrpSpPr>
        <p:grpSpPr>
          <a:xfrm>
            <a:off x="-156644" y="671804"/>
            <a:ext cx="5091836" cy="3380014"/>
            <a:chOff x="1113914" y="895739"/>
            <a:chExt cx="6789114" cy="4506685"/>
          </a:xfrm>
        </p:grpSpPr>
        <p:sp>
          <p:nvSpPr>
            <p:cNvPr id="72" name="Google Shape;72;p16"/>
            <p:cNvSpPr/>
            <p:nvPr/>
          </p:nvSpPr>
          <p:spPr>
            <a:xfrm>
              <a:off x="6961179" y="2389904"/>
              <a:ext cx="941849" cy="3012520"/>
            </a:xfrm>
            <a:custGeom>
              <a:rect b="b" l="l" r="r" t="t"/>
              <a:pathLst>
                <a:path extrusionOk="0" h="3012520" w="941849">
                  <a:moveTo>
                    <a:pt x="941849" y="3012520"/>
                  </a:moveTo>
                  <a:lnTo>
                    <a:pt x="885865" y="2406031"/>
                  </a:lnTo>
                  <a:lnTo>
                    <a:pt x="661930" y="1631590"/>
                  </a:lnTo>
                  <a:cubicBezTo>
                    <a:pt x="571810" y="1367887"/>
                    <a:pt x="482098" y="1042479"/>
                    <a:pt x="371776" y="770547"/>
                  </a:cubicBezTo>
                  <a:cubicBezTo>
                    <a:pt x="261454" y="498615"/>
                    <a:pt x="57524" y="137302"/>
                    <a:pt x="0" y="0"/>
                  </a:cubicBezTo>
                </a:path>
              </a:pathLst>
            </a:custGeom>
            <a:noFill/>
            <a:ln cap="flat" cmpd="tri" w="64300">
              <a:solidFill>
                <a:srgbClr val="FF0000"/>
              </a:solidFill>
              <a:prstDash val="dot"/>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3" name="Google Shape;73;p16"/>
            <p:cNvSpPr/>
            <p:nvPr/>
          </p:nvSpPr>
          <p:spPr>
            <a:xfrm>
              <a:off x="4114800" y="1371600"/>
              <a:ext cx="1352939" cy="3247053"/>
            </a:xfrm>
            <a:custGeom>
              <a:rect b="b" l="l" r="r" t="t"/>
              <a:pathLst>
                <a:path extrusionOk="0" h="3247053" w="1352939">
                  <a:moveTo>
                    <a:pt x="0" y="3247053"/>
                  </a:moveTo>
                  <a:lnTo>
                    <a:pt x="1119673" y="615820"/>
                  </a:lnTo>
                  <a:lnTo>
                    <a:pt x="1352939" y="0"/>
                  </a:lnTo>
                </a:path>
              </a:pathLst>
            </a:custGeom>
            <a:noFill/>
            <a:ln cap="flat" cmpd="tri" w="64300">
              <a:solidFill>
                <a:srgbClr val="FF0000"/>
              </a:solidFill>
              <a:prstDash val="dash"/>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4" name="Google Shape;74;p16"/>
            <p:cNvSpPr/>
            <p:nvPr/>
          </p:nvSpPr>
          <p:spPr>
            <a:xfrm>
              <a:off x="1884784" y="895739"/>
              <a:ext cx="1502228" cy="1604865"/>
            </a:xfrm>
            <a:custGeom>
              <a:rect b="b" l="l" r="r" t="t"/>
              <a:pathLst>
                <a:path extrusionOk="0" h="1604865" w="1502228">
                  <a:moveTo>
                    <a:pt x="0" y="1604865"/>
                  </a:moveTo>
                  <a:lnTo>
                    <a:pt x="783771" y="0"/>
                  </a:lnTo>
                  <a:lnTo>
                    <a:pt x="1203649" y="130628"/>
                  </a:lnTo>
                  <a:lnTo>
                    <a:pt x="1502228" y="186612"/>
                  </a:lnTo>
                </a:path>
              </a:pathLst>
            </a:custGeom>
            <a:noFill/>
            <a:ln cap="flat" cmpd="tri" w="64300">
              <a:solidFill>
                <a:srgbClr val="FF0000"/>
              </a:solidFill>
              <a:prstDash val="dot"/>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5" name="Google Shape;75;p16"/>
            <p:cNvSpPr/>
            <p:nvPr/>
          </p:nvSpPr>
          <p:spPr>
            <a:xfrm>
              <a:off x="1113914" y="4055009"/>
              <a:ext cx="1684033" cy="723941"/>
            </a:xfrm>
            <a:custGeom>
              <a:rect b="b" l="l" r="r" t="t"/>
              <a:pathLst>
                <a:path extrusionOk="0" h="723941" w="1684033">
                  <a:moveTo>
                    <a:pt x="1684033" y="723941"/>
                  </a:moveTo>
                  <a:cubicBezTo>
                    <a:pt x="1113262" y="510907"/>
                    <a:pt x="561344" y="241314"/>
                    <a:pt x="0" y="0"/>
                  </a:cubicBezTo>
                </a:path>
              </a:pathLst>
            </a:custGeom>
            <a:noFill/>
            <a:ln cap="flat" cmpd="tri" w="64300">
              <a:solidFill>
                <a:srgbClr val="FF0000"/>
              </a:solidFill>
              <a:prstDash val="lgDash"/>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sp>
        <p:nvSpPr>
          <p:cNvPr id="76" name="Google Shape;76;p16"/>
          <p:cNvSpPr/>
          <p:nvPr/>
        </p:nvSpPr>
        <p:spPr>
          <a:xfrm>
            <a:off x="0" y="1"/>
            <a:ext cx="3957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hyperlink" Target="https://www.colorlitelens.com/ishihara-test.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omments" Target="../comments/comment1.xml"/><Relationship Id="rId4" Type="http://schemas.openxmlformats.org/officeDocument/2006/relationships/hyperlink" Target="http://drive.google.com/file/d/1Sum44Ih93d-umPfZsjdUrIToSOvXYJV-/view" TargetMode="External"/><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comments" Target="../comments/commen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comments" Target="../comments/commen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comments" Target="../comments/commen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idx="1" type="body"/>
          </p:nvPr>
        </p:nvSpPr>
        <p:spPr>
          <a:xfrm>
            <a:off x="175300" y="433650"/>
            <a:ext cx="8657100" cy="4059600"/>
          </a:xfrm>
          <a:prstGeom prst="rect">
            <a:avLst/>
          </a:prstGeom>
        </p:spPr>
        <p:txBody>
          <a:bodyPr anchorCtr="0" anchor="t" bIns="91425" lIns="91425" spcFirstLastPara="1" rIns="91425" wrap="square" tIns="91425">
            <a:noAutofit/>
          </a:bodyPr>
          <a:lstStyle/>
          <a:p>
            <a:pPr indent="0" lvl="0" marL="0" rtl="1" algn="ctr">
              <a:spcBef>
                <a:spcPts val="0"/>
              </a:spcBef>
              <a:spcAft>
                <a:spcPts val="0"/>
              </a:spcAft>
              <a:buNone/>
            </a:pPr>
            <a:r>
              <a:rPr b="1" lang="en"/>
              <a:t>ניסוי </a:t>
            </a:r>
            <a:r>
              <a:rPr b="1" lang="en" sz="1820"/>
              <a:t>בחינת </a:t>
            </a:r>
            <a:r>
              <a:rPr b="1" lang="en" sz="1820"/>
              <a:t>תצוגות תכנון מסלול נסיעה לרכב אוטונומי על ידי מערכת מבוססת בינה מלאכותית</a:t>
            </a:r>
            <a:endParaRPr b="1"/>
          </a:p>
          <a:p>
            <a:pPr indent="0" lvl="0" marL="0" rtl="1" algn="ctr">
              <a:spcBef>
                <a:spcPts val="1200"/>
              </a:spcBef>
              <a:spcAft>
                <a:spcPts val="0"/>
              </a:spcAft>
              <a:buNone/>
            </a:pPr>
            <a:r>
              <a:rPr lang="en"/>
              <a:t>תודה שבחרת להשתתף בניסוי</a:t>
            </a:r>
            <a:endParaRPr/>
          </a:p>
          <a:p>
            <a:pPr indent="0" lvl="0" marL="0" rtl="1" algn="ctr">
              <a:spcBef>
                <a:spcPts val="1200"/>
              </a:spcBef>
              <a:spcAft>
                <a:spcPts val="0"/>
              </a:spcAft>
              <a:buNone/>
            </a:pPr>
            <a:r>
              <a:rPr lang="en"/>
              <a:t>לפני שנתחיל עלינו לוודא שאין לך לקות ראיה אשר תגביל אותך מלהבין את התצוגות בניסוי</a:t>
            </a:r>
            <a:endParaRPr/>
          </a:p>
          <a:p>
            <a:pPr indent="0" lvl="0" marL="0" rtl="1" algn="ctr">
              <a:spcBef>
                <a:spcPts val="1200"/>
              </a:spcBef>
              <a:spcAft>
                <a:spcPts val="0"/>
              </a:spcAft>
              <a:buNone/>
            </a:pPr>
            <a:r>
              <a:rPr lang="en"/>
              <a:t>הקלד את המספר שאתה רואה בעיגול:___ </a:t>
            </a:r>
            <a:endParaRPr/>
          </a:p>
          <a:p>
            <a:pPr indent="0" lvl="0" marL="0" rtl="1" algn="r">
              <a:spcBef>
                <a:spcPts val="1200"/>
              </a:spcBef>
              <a:spcAft>
                <a:spcPts val="1200"/>
              </a:spcAft>
              <a:buNone/>
            </a:pPr>
            <a:r>
              <a:t/>
            </a:r>
            <a:endParaRPr sz="1050"/>
          </a:p>
        </p:txBody>
      </p:sp>
      <p:sp>
        <p:nvSpPr>
          <p:cNvPr id="82" name="Google Shape;82;p17"/>
          <p:cNvSpPr/>
          <p:nvPr/>
        </p:nvSpPr>
        <p:spPr>
          <a:xfrm>
            <a:off x="579700" y="4665700"/>
            <a:ext cx="1181700" cy="3417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המשך</a:t>
            </a:r>
            <a:endParaRPr/>
          </a:p>
        </p:txBody>
      </p:sp>
      <p:pic>
        <p:nvPicPr>
          <p:cNvPr id="83" name="Google Shape;83;p17"/>
          <p:cNvPicPr preferRelativeResize="0"/>
          <p:nvPr/>
        </p:nvPicPr>
        <p:blipFill>
          <a:blip r:embed="rId3">
            <a:alphaModFix/>
          </a:blip>
          <a:stretch>
            <a:fillRect/>
          </a:stretch>
        </p:blipFill>
        <p:spPr>
          <a:xfrm>
            <a:off x="3525025" y="2809875"/>
            <a:ext cx="2093949" cy="2093949"/>
          </a:xfrm>
          <a:prstGeom prst="rect">
            <a:avLst/>
          </a:prstGeom>
          <a:noFill/>
          <a:ln>
            <a:noFill/>
          </a:ln>
        </p:spPr>
      </p:pic>
      <p:sp>
        <p:nvSpPr>
          <p:cNvPr id="84" name="Google Shape;84;p17"/>
          <p:cNvSpPr txBox="1"/>
          <p:nvPr/>
        </p:nvSpPr>
        <p:spPr>
          <a:xfrm>
            <a:off x="1061725" y="3020050"/>
            <a:ext cx="30000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rgbClr val="99C3FF"/>
                </a:solidFill>
                <a:highlight>
                  <a:srgbClr val="1F1F1F"/>
                </a:highlight>
                <a:uFill>
                  <a:noFill/>
                </a:uFill>
                <a:hlinkClick r:id="rId4">
                  <a:extLst>
                    <a:ext uri="{A12FA001-AC4F-418D-AE19-62706E023703}">
                      <ahyp:hlinkClr val="tx"/>
                    </a:ext>
                  </a:extLst>
                </a:hlinkClick>
              </a:rPr>
              <a:t>Ishihara Test</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idx="1" type="body"/>
          </p:nvPr>
        </p:nvSpPr>
        <p:spPr>
          <a:xfrm>
            <a:off x="311700" y="785400"/>
            <a:ext cx="8520600" cy="4358100"/>
          </a:xfrm>
          <a:prstGeom prst="rect">
            <a:avLst/>
          </a:prstGeom>
        </p:spPr>
        <p:txBody>
          <a:bodyPr anchorCtr="0" anchor="t" bIns="91425" lIns="91425" spcFirstLastPara="1" rIns="91425" wrap="square" tIns="91425">
            <a:noAutofit/>
          </a:bodyPr>
          <a:lstStyle/>
          <a:p>
            <a:pPr indent="0" lvl="0" marL="0" rtl="1" algn="just">
              <a:lnSpc>
                <a:spcPct val="115000"/>
              </a:lnSpc>
              <a:spcBef>
                <a:spcPts val="0"/>
              </a:spcBef>
              <a:spcAft>
                <a:spcPts val="0"/>
              </a:spcAft>
              <a:buNone/>
            </a:pPr>
            <a:r>
              <a:rPr lang="en" sz="1300">
                <a:solidFill>
                  <a:schemeClr val="dk1"/>
                </a:solidFill>
              </a:rPr>
              <a:t>שלום רב,</a:t>
            </a:r>
            <a:endParaRPr sz="1300">
              <a:solidFill>
                <a:schemeClr val="dk1"/>
              </a:solidFill>
            </a:endParaRPr>
          </a:p>
          <a:p>
            <a:pPr indent="0" lvl="0" marL="0" rtl="1" algn="just">
              <a:lnSpc>
                <a:spcPct val="115000"/>
              </a:lnSpc>
              <a:spcBef>
                <a:spcPts val="0"/>
              </a:spcBef>
              <a:spcAft>
                <a:spcPts val="0"/>
              </a:spcAft>
              <a:buNone/>
            </a:pPr>
            <a:r>
              <a:rPr lang="en" sz="1300">
                <a:solidFill>
                  <a:schemeClr val="dk1"/>
                </a:solidFill>
              </a:rPr>
              <a:t>שמי איציק מאיר, סטודנט לתואר שני בחוג למערכות מידע.</a:t>
            </a:r>
            <a:endParaRPr sz="1300">
              <a:solidFill>
                <a:schemeClr val="dk1"/>
              </a:solidFill>
            </a:endParaRPr>
          </a:p>
          <a:p>
            <a:pPr indent="0" lvl="0" marL="0" rtl="1" algn="r">
              <a:lnSpc>
                <a:spcPct val="115000"/>
              </a:lnSpc>
              <a:spcBef>
                <a:spcPts val="0"/>
              </a:spcBef>
              <a:spcAft>
                <a:spcPts val="0"/>
              </a:spcAft>
              <a:buNone/>
            </a:pPr>
            <a:r>
              <a:rPr lang="en" sz="1300">
                <a:solidFill>
                  <a:schemeClr val="dk1"/>
                </a:solidFill>
              </a:rPr>
              <a:t>הנני פונה אליך לבקש את אישורך להשתתפות במחקר המתבצע במעבדה אינטרקציית אדם מחשב (HCI) </a:t>
            </a:r>
            <a:r>
              <a:rPr lang="en" sz="1300">
                <a:solidFill>
                  <a:schemeClr val="dk1"/>
                </a:solidFill>
              </a:rPr>
              <a:t>בחוג למערכות מידע</a:t>
            </a:r>
            <a:r>
              <a:rPr lang="en" sz="1300">
                <a:solidFill>
                  <a:schemeClr val="dk1"/>
                </a:solidFill>
              </a:rPr>
              <a:t> באוניברסיטת חיפה. המחקר הוא במסגרת עבודת תזה בהנחיית פרופ' צביקה קופליק ויואל לניר</a:t>
            </a:r>
            <a:endParaRPr sz="1300">
              <a:solidFill>
                <a:schemeClr val="dk1"/>
              </a:solidFill>
            </a:endParaRPr>
          </a:p>
          <a:p>
            <a:pPr indent="0" lvl="0" marL="0" rtl="1" algn="r">
              <a:lnSpc>
                <a:spcPct val="115000"/>
              </a:lnSpc>
              <a:spcBef>
                <a:spcPts val="0"/>
              </a:spcBef>
              <a:spcAft>
                <a:spcPts val="0"/>
              </a:spcAft>
              <a:buNone/>
            </a:pPr>
            <a:r>
              <a:rPr lang="en" sz="1300">
                <a:solidFill>
                  <a:schemeClr val="dk1"/>
                </a:solidFill>
              </a:rPr>
              <a:t>מטרת המחקר היא לבחון את תצוגת שיקולי מערכת המחקר עשוי להועיל לך בכך שתקבל תגמול כספי על השתתפות בניסוי, למחקר תרומה לחברה בתחומי האינטראקציה אדם–בינה מלאכותית, ויזואליזציה של מידע, ועיצוב ממשקי תכנון מסלול לכלי רכב אוטונומיים.</a:t>
            </a:r>
            <a:endParaRPr sz="1300">
              <a:solidFill>
                <a:schemeClr val="dk1"/>
              </a:solidFill>
            </a:endParaRPr>
          </a:p>
          <a:p>
            <a:pPr indent="0" lvl="0" marL="0" rtl="1" algn="r">
              <a:lnSpc>
                <a:spcPct val="115000"/>
              </a:lnSpc>
              <a:spcBef>
                <a:spcPts val="0"/>
              </a:spcBef>
              <a:spcAft>
                <a:spcPts val="0"/>
              </a:spcAft>
              <a:buNone/>
            </a:pPr>
            <a:r>
              <a:rPr lang="en" sz="1300">
                <a:solidFill>
                  <a:schemeClr val="dk1"/>
                </a:solidFill>
              </a:rPr>
              <a:t>המחקר יבוצע במעבדת HCI , במשך פגישה אחת.חלק מהפגישה יתועד בהקלטת שמע.</a:t>
            </a:r>
            <a:endParaRPr sz="1300">
              <a:solidFill>
                <a:schemeClr val="dk1"/>
              </a:solidFill>
            </a:endParaRPr>
          </a:p>
          <a:p>
            <a:pPr indent="0" lvl="0" marL="0" rtl="1" algn="r">
              <a:lnSpc>
                <a:spcPct val="115000"/>
              </a:lnSpc>
              <a:spcBef>
                <a:spcPts val="0"/>
              </a:spcBef>
              <a:spcAft>
                <a:spcPts val="0"/>
              </a:spcAft>
              <a:buNone/>
            </a:pPr>
            <a:r>
              <a:rPr lang="en" sz="1300">
                <a:solidFill>
                  <a:schemeClr val="dk1"/>
                </a:solidFill>
              </a:rPr>
              <a:t>הזמן המשוער 40 דקות. </a:t>
            </a:r>
            <a:endParaRPr sz="1300">
              <a:solidFill>
                <a:schemeClr val="dk1"/>
              </a:solidFill>
            </a:endParaRPr>
          </a:p>
          <a:p>
            <a:pPr indent="0" lvl="0" marL="0" rtl="1" algn="r">
              <a:lnSpc>
                <a:spcPct val="115000"/>
              </a:lnSpc>
              <a:spcBef>
                <a:spcPts val="0"/>
              </a:spcBef>
              <a:spcAft>
                <a:spcPts val="0"/>
              </a:spcAft>
              <a:buNone/>
            </a:pPr>
            <a:r>
              <a:rPr lang="en" sz="1300">
                <a:solidFill>
                  <a:schemeClr val="dk1"/>
                </a:solidFill>
              </a:rPr>
              <a:t>חשוב לציין כי ההשתתפות במחקר היא רק אם נחתם על ידך כתב הסכמה לכך. הסכמה זו איננה מחייבת ותוכל/י להפסיק את השתתפותך במחקר בכל רגע ללא כל פגיעה בך.</a:t>
            </a:r>
            <a:endParaRPr sz="1300">
              <a:solidFill>
                <a:schemeClr val="dk1"/>
              </a:solidFill>
            </a:endParaRPr>
          </a:p>
          <a:p>
            <a:pPr indent="0" lvl="0" marL="0" rtl="1" algn="r">
              <a:lnSpc>
                <a:spcPct val="115000"/>
              </a:lnSpc>
              <a:spcBef>
                <a:spcPts val="0"/>
              </a:spcBef>
              <a:spcAft>
                <a:spcPts val="0"/>
              </a:spcAft>
              <a:buNone/>
            </a:pPr>
            <a:r>
              <a:rPr lang="en" sz="1300">
                <a:solidFill>
                  <a:schemeClr val="dk1"/>
                </a:solidFill>
              </a:rPr>
              <a:t>פרטיך האישיים יישמרו תחת מספר מזהה בלבד. פרטים המאפשרים את זיהוי הנתונים יישמרו במקום נפרד, ויימחקו לצמיתות מיד עם תום העיבודים הנדרשים לצורכי המחקר. הנתונים לא יועברו במתכונתם הגולמית לגורם כלשהו מחוץ לצוות המחקר, והגישה אליהם תתאפשר לצוות המחקר בלבד. פרסום ממצאי המחקר ייערך באופן שלא יאפשר את זיהויך.</a:t>
            </a:r>
            <a:endParaRPr sz="1300">
              <a:solidFill>
                <a:schemeClr val="dk1"/>
              </a:solidFill>
            </a:endParaRPr>
          </a:p>
          <a:p>
            <a:pPr indent="0" lvl="0" marL="0" rtl="1" algn="r">
              <a:lnSpc>
                <a:spcPct val="115000"/>
              </a:lnSpc>
              <a:spcBef>
                <a:spcPts val="0"/>
              </a:spcBef>
              <a:spcAft>
                <a:spcPts val="0"/>
              </a:spcAft>
              <a:buNone/>
            </a:pPr>
            <a:r>
              <a:rPr lang="en" sz="1300">
                <a:solidFill>
                  <a:schemeClr val="dk1"/>
                </a:solidFill>
              </a:rPr>
              <a:t>נודה לך מאוד אם תסכים/י להשתתף במחקר. לצורך כך, יש לחתום על כתב ההסכמה המצורף למכתב זה ולהחזירו בהקדם האפשרי. במקרה שאת/ה מעוניינ/ת לקבל מידע נוסף על המחקר, ניתן ליצור עמנו קשר בטלפון או במייל.</a:t>
            </a:r>
            <a:endParaRPr sz="1300">
              <a:solidFill>
                <a:schemeClr val="dk1"/>
              </a:solidFill>
            </a:endParaRPr>
          </a:p>
          <a:p>
            <a:pPr indent="0" lvl="0" marL="0" rtl="1" algn="r">
              <a:lnSpc>
                <a:spcPct val="115000"/>
              </a:lnSpc>
              <a:spcBef>
                <a:spcPts val="0"/>
              </a:spcBef>
              <a:spcAft>
                <a:spcPts val="0"/>
              </a:spcAft>
              <a:buNone/>
            </a:pPr>
            <a:r>
              <a:rPr lang="en" sz="1300">
                <a:solidFill>
                  <a:schemeClr val="dk1"/>
                </a:solidFill>
              </a:rPr>
              <a:t>שם:איציק מאיר | טלפון: 0545440818 | מייל: itzikmeir@gmail.com</a:t>
            </a:r>
            <a:endParaRPr sz="1300">
              <a:solidFill>
                <a:schemeClr val="dk1"/>
              </a:solidFill>
            </a:endParaRPr>
          </a:p>
          <a:p>
            <a:pPr indent="0" lvl="0" marL="0" rtl="1" algn="r">
              <a:lnSpc>
                <a:spcPct val="115000"/>
              </a:lnSpc>
              <a:spcBef>
                <a:spcPts val="0"/>
              </a:spcBef>
              <a:spcAft>
                <a:spcPts val="0"/>
              </a:spcAft>
              <a:buNone/>
            </a:pPr>
            <a:r>
              <a:rPr b="1" lang="en" sz="1300">
                <a:solidFill>
                  <a:schemeClr val="dk1"/>
                </a:solidFill>
              </a:rPr>
              <a:t>כאות תודה על ההשתתפות, תקבל/י</a:t>
            </a:r>
            <a:r>
              <a:rPr b="1" lang="en" sz="1300">
                <a:solidFill>
                  <a:schemeClr val="dk1"/>
                </a:solidFill>
              </a:rPr>
              <a:t> 50 ₪</a:t>
            </a:r>
            <a:r>
              <a:rPr b="1" lang="en" sz="1300">
                <a:solidFill>
                  <a:schemeClr val="dk1"/>
                </a:solidFill>
              </a:rPr>
              <a:t> עבור השלמת הניסוי.</a:t>
            </a:r>
            <a:endParaRPr b="1" sz="1150"/>
          </a:p>
        </p:txBody>
      </p:sp>
      <p:sp>
        <p:nvSpPr>
          <p:cNvPr id="90" name="Google Shape;90;p18"/>
          <p:cNvSpPr/>
          <p:nvPr/>
        </p:nvSpPr>
        <p:spPr>
          <a:xfrm>
            <a:off x="579700" y="4665700"/>
            <a:ext cx="1181700" cy="3417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המשך</a:t>
            </a:r>
            <a:endParaRPr/>
          </a:p>
        </p:txBody>
      </p:sp>
      <p:sp>
        <p:nvSpPr>
          <p:cNvPr id="91" name="Google Shape;91;p18"/>
          <p:cNvSpPr txBox="1"/>
          <p:nvPr>
            <p:ph type="title"/>
          </p:nvPr>
        </p:nvSpPr>
        <p:spPr>
          <a:xfrm>
            <a:off x="311700" y="130150"/>
            <a:ext cx="8520600" cy="825000"/>
          </a:xfrm>
          <a:prstGeom prst="rect">
            <a:avLst/>
          </a:prstGeom>
        </p:spPr>
        <p:txBody>
          <a:bodyPr anchorCtr="0" anchor="t" bIns="91425" lIns="91425" spcFirstLastPara="1" rIns="91425" wrap="square" tIns="91425">
            <a:noAutofit/>
          </a:bodyPr>
          <a:lstStyle/>
          <a:p>
            <a:pPr indent="0" lvl="0" marL="0" rtl="1" algn="r">
              <a:lnSpc>
                <a:spcPct val="100000"/>
              </a:lnSpc>
              <a:spcBef>
                <a:spcPts val="0"/>
              </a:spcBef>
              <a:spcAft>
                <a:spcPts val="0"/>
              </a:spcAft>
              <a:buSzPts val="990"/>
              <a:buNone/>
            </a:pPr>
            <a:r>
              <a:rPr b="1" lang="en" sz="1820">
                <a:solidFill>
                  <a:schemeClr val="dk2"/>
                </a:solidFill>
              </a:rPr>
              <a:t>בקשה להשתתפותך במחקר בנושא:</a:t>
            </a:r>
            <a:endParaRPr b="1" sz="1820">
              <a:solidFill>
                <a:schemeClr val="dk2"/>
              </a:solidFill>
            </a:endParaRPr>
          </a:p>
          <a:p>
            <a:pPr indent="0" lvl="0" marL="0" rtl="1" algn="r">
              <a:lnSpc>
                <a:spcPct val="100000"/>
              </a:lnSpc>
              <a:spcBef>
                <a:spcPts val="0"/>
              </a:spcBef>
              <a:spcAft>
                <a:spcPts val="0"/>
              </a:spcAft>
              <a:buSzPts val="990"/>
              <a:buNone/>
            </a:pPr>
            <a:r>
              <a:rPr b="1" lang="en" sz="1820">
                <a:solidFill>
                  <a:schemeClr val="dk2"/>
                </a:solidFill>
              </a:rPr>
              <a:t> תצוגות </a:t>
            </a:r>
            <a:r>
              <a:rPr b="1" lang="en" sz="1820">
                <a:solidFill>
                  <a:schemeClr val="dk2"/>
                </a:solidFill>
              </a:rPr>
              <a:t>תכנון מסלול נסיעה לרכב אוטונומי על ידי מערכת מבוססת בינה מלאכותית</a:t>
            </a:r>
            <a:endParaRPr b="1" sz="1820">
              <a:solidFill>
                <a:schemeClr val="dk2"/>
              </a:solidFill>
            </a:endParaRPr>
          </a:p>
          <a:p>
            <a:pPr indent="0" lvl="0" marL="0" rtl="1" algn="r">
              <a:lnSpc>
                <a:spcPct val="100000"/>
              </a:lnSpc>
              <a:spcBef>
                <a:spcPts val="0"/>
              </a:spcBef>
              <a:spcAft>
                <a:spcPts val="0"/>
              </a:spcAft>
              <a:buSzPts val="990"/>
              <a:buNone/>
            </a:pPr>
            <a:r>
              <a:t/>
            </a:r>
            <a:endParaRPr b="1" sz="182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idx="1" type="body"/>
          </p:nvPr>
        </p:nvSpPr>
        <p:spPr>
          <a:xfrm>
            <a:off x="311700" y="702850"/>
            <a:ext cx="8520600" cy="3416400"/>
          </a:xfrm>
          <a:prstGeom prst="rect">
            <a:avLst/>
          </a:prstGeom>
        </p:spPr>
        <p:txBody>
          <a:bodyPr anchorCtr="0" anchor="t" bIns="91425" lIns="91425" spcFirstLastPara="1" rIns="91425" wrap="square" tIns="91425">
            <a:noAutofit/>
          </a:bodyPr>
          <a:lstStyle/>
          <a:p>
            <a:pPr indent="0" lvl="0" marL="0" marR="228600" rtl="1" algn="r">
              <a:lnSpc>
                <a:spcPct val="150000"/>
              </a:lnSpc>
              <a:spcBef>
                <a:spcPts val="0"/>
              </a:spcBef>
              <a:spcAft>
                <a:spcPts val="0"/>
              </a:spcAft>
              <a:buClr>
                <a:schemeClr val="dk1"/>
              </a:buClr>
              <a:buSzPts val="1100"/>
              <a:buFont typeface="Arial"/>
              <a:buNone/>
            </a:pPr>
            <a:r>
              <a:rPr lang="en" sz="1200">
                <a:solidFill>
                  <a:schemeClr val="dk1"/>
                </a:solidFill>
              </a:rPr>
              <a:t>אני הח"מ _________________ , ________________ , ______________________________</a:t>
            </a:r>
            <a:endParaRPr sz="1200">
              <a:solidFill>
                <a:schemeClr val="dk1"/>
              </a:solidFill>
            </a:endParaRPr>
          </a:p>
          <a:p>
            <a:pPr indent="0" lvl="0" marL="0" marR="228600" rtl="1" algn="r">
              <a:lnSpc>
                <a:spcPct val="150000"/>
              </a:lnSpc>
              <a:spcBef>
                <a:spcPts val="0"/>
              </a:spcBef>
              <a:spcAft>
                <a:spcPts val="0"/>
              </a:spcAft>
              <a:buClr>
                <a:schemeClr val="dk1"/>
              </a:buClr>
              <a:buSzPts val="1100"/>
              <a:buFont typeface="Arial"/>
              <a:buNone/>
            </a:pPr>
            <a:r>
              <a:rPr lang="en" sz="1200">
                <a:solidFill>
                  <a:schemeClr val="dk1"/>
                </a:solidFill>
              </a:rPr>
              <a:t>            	            	שם    	                     	ת"ז     	                   	        	כתובת</a:t>
            </a:r>
            <a:endParaRPr sz="1200">
              <a:solidFill>
                <a:schemeClr val="dk1"/>
              </a:solidFill>
            </a:endParaRPr>
          </a:p>
          <a:p>
            <a:pPr indent="-165100" lvl="0" marL="0" marR="393700" rtl="1" algn="r">
              <a:lnSpc>
                <a:spcPct val="150000"/>
              </a:lnSpc>
              <a:spcBef>
                <a:spcPts val="0"/>
              </a:spcBef>
              <a:spcAft>
                <a:spcPts val="0"/>
              </a:spcAft>
              <a:buClr>
                <a:schemeClr val="dk1"/>
              </a:buClr>
              <a:buSzPts val="1100"/>
              <a:buFont typeface="Arial"/>
              <a:buNone/>
            </a:pPr>
            <a:r>
              <a:rPr lang="en" sz="1200">
                <a:solidFill>
                  <a:schemeClr val="dk1"/>
                </a:solidFill>
              </a:rPr>
              <a:t>א.  מצהיר בזה כי אני מסכים להשתתף במחקר בנושא תצוגות תכנון מסלול נסיעה לרכב אוטונומי על ידי מערכת מבוססת בינה מלאכותית</a:t>
            </a:r>
            <a:endParaRPr sz="1200">
              <a:solidFill>
                <a:schemeClr val="dk1"/>
              </a:solidFill>
            </a:endParaRPr>
          </a:p>
          <a:p>
            <a:pPr indent="-177800" lvl="0" marL="0" marR="393700" rtl="1" algn="r">
              <a:lnSpc>
                <a:spcPct val="150000"/>
              </a:lnSpc>
              <a:spcBef>
                <a:spcPts val="0"/>
              </a:spcBef>
              <a:spcAft>
                <a:spcPts val="0"/>
              </a:spcAft>
              <a:buClr>
                <a:schemeClr val="dk1"/>
              </a:buClr>
              <a:buSzPts val="1100"/>
              <a:buFont typeface="Arial"/>
              <a:buNone/>
            </a:pPr>
            <a:r>
              <a:rPr lang="en" sz="1200">
                <a:solidFill>
                  <a:schemeClr val="dk1"/>
                </a:solidFill>
              </a:rPr>
              <a:t>ב.	מצהיר בזה כי קיבלתי מידי איציק מאיר הסבר על המחקר.</a:t>
            </a:r>
            <a:endParaRPr b="1" sz="1200">
              <a:solidFill>
                <a:schemeClr val="dk1"/>
              </a:solidFill>
            </a:endParaRPr>
          </a:p>
          <a:p>
            <a:pPr indent="-177800" lvl="0" marL="0" marR="393700" rtl="1" algn="r">
              <a:lnSpc>
                <a:spcPct val="150000"/>
              </a:lnSpc>
              <a:spcBef>
                <a:spcPts val="0"/>
              </a:spcBef>
              <a:spcAft>
                <a:spcPts val="0"/>
              </a:spcAft>
              <a:buClr>
                <a:schemeClr val="dk1"/>
              </a:buClr>
              <a:buSzPts val="1100"/>
              <a:buFont typeface="Arial"/>
              <a:buNone/>
            </a:pPr>
            <a:r>
              <a:rPr lang="en" sz="1200">
                <a:solidFill>
                  <a:schemeClr val="dk1"/>
                </a:solidFill>
              </a:rPr>
              <a:t>ג. 	מצהיר בזה כי אני חופשי לבחור שלא להשתתף במחקר ואני חופשי להפסיק בכל עת את השתתפותי בניסוי, מבלי לפגוע בזכויותיי, מבלי שיאונה לי כל רע, ומבלי שתינקט נגדי סנקציה כלשהי.</a:t>
            </a:r>
            <a:endParaRPr sz="1200">
              <a:solidFill>
                <a:schemeClr val="dk1"/>
              </a:solidFill>
            </a:endParaRPr>
          </a:p>
          <a:p>
            <a:pPr indent="-177800" lvl="0" marL="0" marR="393700" rtl="1" algn="r">
              <a:lnSpc>
                <a:spcPct val="150000"/>
              </a:lnSpc>
              <a:spcBef>
                <a:spcPts val="0"/>
              </a:spcBef>
              <a:spcAft>
                <a:spcPts val="0"/>
              </a:spcAft>
              <a:buClr>
                <a:schemeClr val="dk1"/>
              </a:buClr>
              <a:buSzPts val="1100"/>
              <a:buFont typeface="Arial"/>
              <a:buNone/>
            </a:pPr>
            <a:r>
              <a:rPr lang="en" sz="1200">
                <a:solidFill>
                  <a:schemeClr val="dk1"/>
                </a:solidFill>
              </a:rPr>
              <a:t>ד.	מובטחת לי סודיות באשר לזהותי האישית בכל שלב במחקר, כולל פרסומים מדעיים.</a:t>
            </a:r>
            <a:endParaRPr sz="1200">
              <a:solidFill>
                <a:schemeClr val="dk1"/>
              </a:solidFill>
            </a:endParaRPr>
          </a:p>
          <a:p>
            <a:pPr indent="-165100" lvl="0" marL="0" marR="393700" rtl="1" algn="r">
              <a:lnSpc>
                <a:spcPct val="150000"/>
              </a:lnSpc>
              <a:spcBef>
                <a:spcPts val="0"/>
              </a:spcBef>
              <a:spcAft>
                <a:spcPts val="0"/>
              </a:spcAft>
              <a:buClr>
                <a:schemeClr val="dk1"/>
              </a:buClr>
              <a:buSzPts val="1100"/>
              <a:buFont typeface="Arial"/>
              <a:buNone/>
            </a:pPr>
            <a:r>
              <a:rPr lang="en" sz="1200">
                <a:solidFill>
                  <a:schemeClr val="dk1"/>
                </a:solidFill>
              </a:rPr>
              <a:t>ה.  מובטחת לי נכונות לענות לשאלות שיועלו על-ידי </a:t>
            </a:r>
            <a:r>
              <a:rPr lang="en" sz="1200">
                <a:solidFill>
                  <a:schemeClr val="dk1"/>
                </a:solidFill>
              </a:rPr>
              <a:t>שם:איציק מאיר | טלפון: 0545440818 | מייל: itzikmeir@gmail.com</a:t>
            </a:r>
            <a:r>
              <a:rPr lang="en" sz="1200">
                <a:solidFill>
                  <a:schemeClr val="dk1"/>
                </a:solidFill>
              </a:rPr>
              <a:t> ואפשרות להיוועץ בגורם נוסף באשר לקבלת החלטה אם להשתתף במחקר או להמשיך בו.</a:t>
            </a:r>
            <a:endParaRPr sz="1200">
              <a:solidFill>
                <a:schemeClr val="dk1"/>
              </a:solidFill>
            </a:endParaRPr>
          </a:p>
          <a:p>
            <a:pPr indent="0" lvl="0" marL="0" rtl="1" algn="r">
              <a:spcBef>
                <a:spcPts val="1200"/>
              </a:spcBef>
              <a:spcAft>
                <a:spcPts val="0"/>
              </a:spcAft>
              <a:buClr>
                <a:schemeClr val="dk1"/>
              </a:buClr>
              <a:buSzPts val="1100"/>
              <a:buFont typeface="Arial"/>
              <a:buNone/>
            </a:pPr>
            <a:r>
              <a:rPr lang="en" sz="1200">
                <a:solidFill>
                  <a:schemeClr val="dk1"/>
                </a:solidFill>
              </a:rPr>
              <a:t> </a:t>
            </a:r>
            <a:r>
              <a:rPr lang="en" sz="1200">
                <a:solidFill>
                  <a:schemeClr val="dk1"/>
                </a:solidFill>
              </a:rPr>
              <a:t>אני מצהיר בזה כי את הסכמתי נתתי מרצוני החופשי וכי הבנתי את כל האמור לעיל.  </a:t>
            </a:r>
            <a:endParaRPr sz="1200">
              <a:solidFill>
                <a:schemeClr val="dk1"/>
              </a:solidFill>
            </a:endParaRPr>
          </a:p>
          <a:p>
            <a:pPr indent="457200" lvl="0" marL="0" rtl="1" algn="r">
              <a:lnSpc>
                <a:spcPct val="150000"/>
              </a:lnSpc>
              <a:spcBef>
                <a:spcPts val="1200"/>
              </a:spcBef>
              <a:spcAft>
                <a:spcPts val="0"/>
              </a:spcAft>
              <a:buClr>
                <a:schemeClr val="dk1"/>
              </a:buClr>
              <a:buSzPts val="1100"/>
              <a:buFont typeface="Arial"/>
              <a:buNone/>
            </a:pPr>
            <a:r>
              <a:rPr lang="en" sz="1200">
                <a:solidFill>
                  <a:schemeClr val="dk1"/>
                </a:solidFill>
              </a:rPr>
              <a:t>______________    	  ______________________       	________________</a:t>
            </a:r>
            <a:endParaRPr sz="1200">
              <a:solidFill>
                <a:schemeClr val="dk1"/>
              </a:solidFill>
            </a:endParaRPr>
          </a:p>
          <a:p>
            <a:pPr indent="114300" lvl="0" marL="0" marR="457200" rtl="1" algn="r">
              <a:lnSpc>
                <a:spcPct val="150000"/>
              </a:lnSpc>
              <a:spcBef>
                <a:spcPts val="0"/>
              </a:spcBef>
              <a:spcAft>
                <a:spcPts val="0"/>
              </a:spcAft>
              <a:buClr>
                <a:schemeClr val="dk1"/>
              </a:buClr>
              <a:buSzPts val="1100"/>
              <a:buFont typeface="Arial"/>
              <a:buNone/>
            </a:pPr>
            <a:r>
              <a:rPr lang="en" sz="1200">
                <a:solidFill>
                  <a:schemeClr val="dk1"/>
                </a:solidFill>
              </a:rPr>
              <a:t> שם המשתתף         	   חתימת המשתתף/אפוטרופוס           	    	תאריך</a:t>
            </a:r>
            <a:endParaRPr sz="1200">
              <a:solidFill>
                <a:schemeClr val="dk1"/>
              </a:solidFill>
            </a:endParaRPr>
          </a:p>
          <a:p>
            <a:pPr indent="0" lvl="0" marL="0" rtl="1" algn="r">
              <a:spcBef>
                <a:spcPts val="0"/>
              </a:spcBef>
              <a:spcAft>
                <a:spcPts val="1200"/>
              </a:spcAft>
              <a:buNone/>
            </a:pPr>
            <a:r>
              <a:t/>
            </a:r>
            <a:endParaRPr sz="1200"/>
          </a:p>
        </p:txBody>
      </p:sp>
      <p:sp>
        <p:nvSpPr>
          <p:cNvPr id="97" name="Google Shape;97;p19"/>
          <p:cNvSpPr/>
          <p:nvPr/>
        </p:nvSpPr>
        <p:spPr>
          <a:xfrm>
            <a:off x="579700" y="4665700"/>
            <a:ext cx="1181700" cy="3417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המשך</a:t>
            </a:r>
            <a:endParaRPr/>
          </a:p>
        </p:txBody>
      </p:sp>
      <p:sp>
        <p:nvSpPr>
          <p:cNvPr id="98" name="Google Shape;98;p19"/>
          <p:cNvSpPr txBox="1"/>
          <p:nvPr>
            <p:ph type="title"/>
          </p:nvPr>
        </p:nvSpPr>
        <p:spPr>
          <a:xfrm>
            <a:off x="311700" y="130150"/>
            <a:ext cx="8520600" cy="572700"/>
          </a:xfrm>
          <a:prstGeom prst="rect">
            <a:avLst/>
          </a:prstGeom>
        </p:spPr>
        <p:txBody>
          <a:bodyPr anchorCtr="0" anchor="t" bIns="91425" lIns="91425" spcFirstLastPara="1" rIns="91425" wrap="square" tIns="91425">
            <a:normAutofit/>
          </a:bodyPr>
          <a:lstStyle/>
          <a:p>
            <a:pPr indent="0" lvl="0" marL="0" rtl="1" algn="r">
              <a:lnSpc>
                <a:spcPct val="115000"/>
              </a:lnSpc>
              <a:spcBef>
                <a:spcPts val="0"/>
              </a:spcBef>
              <a:spcAft>
                <a:spcPts val="1200"/>
              </a:spcAft>
              <a:buNone/>
            </a:pPr>
            <a:r>
              <a:rPr b="1" lang="en" sz="1800">
                <a:solidFill>
                  <a:schemeClr val="dk2"/>
                </a:solidFill>
              </a:rPr>
              <a:t>הסכמה מדעת</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idx="1" type="body"/>
          </p:nvPr>
        </p:nvSpPr>
        <p:spPr>
          <a:xfrm>
            <a:off x="175300" y="433650"/>
            <a:ext cx="8657100" cy="40596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b="1" lang="en" sz="2000">
                <a:solidFill>
                  <a:schemeClr val="dk1"/>
                </a:solidFill>
              </a:rPr>
              <a:t>הסבר על הניסוי</a:t>
            </a:r>
            <a:endParaRPr b="1">
              <a:solidFill>
                <a:schemeClr val="dk1"/>
              </a:solidFill>
            </a:endParaRPr>
          </a:p>
          <a:p>
            <a:pPr indent="-336550" lvl="0" marL="457200" rtl="1" algn="r">
              <a:lnSpc>
                <a:spcPct val="150000"/>
              </a:lnSpc>
              <a:spcBef>
                <a:spcPts val="1200"/>
              </a:spcBef>
              <a:spcAft>
                <a:spcPts val="0"/>
              </a:spcAft>
              <a:buClr>
                <a:schemeClr val="dk1"/>
              </a:buClr>
              <a:buSzPts val="1700"/>
              <a:buChar char="●"/>
            </a:pPr>
            <a:r>
              <a:rPr lang="en" sz="1700">
                <a:solidFill>
                  <a:schemeClr val="dk1"/>
                </a:solidFill>
              </a:rPr>
              <a:t>במהלך הניסוי יוצג לך מערכת לתכנון מסלול נסיעה לרכב אוטונומי מנקודת מוצא ליעד</a:t>
            </a:r>
            <a:endParaRPr sz="1700">
              <a:solidFill>
                <a:schemeClr val="dk1"/>
              </a:solidFill>
            </a:endParaRPr>
          </a:p>
          <a:p>
            <a:pPr indent="-336550" lvl="0" marL="457200" rtl="1" algn="r">
              <a:lnSpc>
                <a:spcPct val="150000"/>
              </a:lnSpc>
              <a:spcBef>
                <a:spcPts val="0"/>
              </a:spcBef>
              <a:spcAft>
                <a:spcPts val="0"/>
              </a:spcAft>
              <a:buClr>
                <a:schemeClr val="dk1"/>
              </a:buClr>
              <a:buSzPts val="1700"/>
              <a:buChar char="●"/>
            </a:pPr>
            <a:r>
              <a:rPr lang="en" sz="1700">
                <a:solidFill>
                  <a:schemeClr val="dk1"/>
                </a:solidFill>
              </a:rPr>
              <a:t>המערכת מחשבת  באמצעות בינה מלאכותית מספר רב של משתנים במרחב כגון מרחק, עלות, תנאי שטח וכדומה  ומציגה 3 מסלולים חלופיים לנסיעה </a:t>
            </a:r>
            <a:endParaRPr sz="1700">
              <a:solidFill>
                <a:schemeClr val="dk1"/>
              </a:solidFill>
            </a:endParaRPr>
          </a:p>
          <a:p>
            <a:pPr indent="-336550" lvl="0" marL="457200" rtl="1" algn="r">
              <a:lnSpc>
                <a:spcPct val="150000"/>
              </a:lnSpc>
              <a:spcBef>
                <a:spcPts val="0"/>
              </a:spcBef>
              <a:spcAft>
                <a:spcPts val="0"/>
              </a:spcAft>
              <a:buClr>
                <a:schemeClr val="dk1"/>
              </a:buClr>
              <a:buSzPts val="1700"/>
              <a:buChar char="●"/>
            </a:pPr>
            <a:r>
              <a:rPr lang="en" sz="1700">
                <a:solidFill>
                  <a:schemeClr val="dk1"/>
                </a:solidFill>
              </a:rPr>
              <a:t>מסלול אחד מתוך ה3 יומלץ על ידי המערכת כמסלול האופטימלי לנסיעה</a:t>
            </a:r>
            <a:endParaRPr sz="1700">
              <a:solidFill>
                <a:schemeClr val="dk1"/>
              </a:solidFill>
            </a:endParaRPr>
          </a:p>
          <a:p>
            <a:pPr indent="-336550" lvl="0" marL="457200" rtl="1" algn="r">
              <a:lnSpc>
                <a:spcPct val="150000"/>
              </a:lnSpc>
              <a:spcBef>
                <a:spcPts val="0"/>
              </a:spcBef>
              <a:spcAft>
                <a:spcPts val="0"/>
              </a:spcAft>
              <a:buClr>
                <a:schemeClr val="dk1"/>
              </a:buClr>
              <a:buSzPts val="1700"/>
              <a:buChar char="●"/>
            </a:pPr>
            <a:r>
              <a:rPr b="1" lang="en" sz="1700">
                <a:solidFill>
                  <a:schemeClr val="dk1"/>
                </a:solidFill>
              </a:rPr>
              <a:t>שימ/י לב: הבינה המלאכותית מטבעה יכולה</a:t>
            </a:r>
            <a:r>
              <a:rPr lang="en" sz="1700">
                <a:solidFill>
                  <a:schemeClr val="dk1"/>
                </a:solidFill>
              </a:rPr>
              <a:t> לאשהמסלול המומלץ אינו האופטימלי ולכן עלייך לבחון היטב את השיקולים המוצגים לך בממשק ורק אז לבחור מסלול</a:t>
            </a:r>
            <a:endParaRPr sz="1700">
              <a:solidFill>
                <a:schemeClr val="dk1"/>
              </a:solidFill>
            </a:endParaRPr>
          </a:p>
        </p:txBody>
      </p:sp>
      <p:sp>
        <p:nvSpPr>
          <p:cNvPr id="104" name="Google Shape;104;p20"/>
          <p:cNvSpPr/>
          <p:nvPr/>
        </p:nvSpPr>
        <p:spPr>
          <a:xfrm>
            <a:off x="579700" y="4665700"/>
            <a:ext cx="1181700" cy="3417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המשך</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idx="1" type="body"/>
          </p:nvPr>
        </p:nvSpPr>
        <p:spPr>
          <a:xfrm>
            <a:off x="175300" y="433650"/>
            <a:ext cx="8657100" cy="5019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b="1" lang="en" sz="2000">
                <a:solidFill>
                  <a:schemeClr val="dk1"/>
                </a:solidFill>
              </a:rPr>
              <a:t>הסבר על הניסוי</a:t>
            </a:r>
            <a:endParaRPr b="1">
              <a:solidFill>
                <a:schemeClr val="dk1"/>
              </a:solidFill>
            </a:endParaRPr>
          </a:p>
          <a:p>
            <a:pPr indent="0" lvl="0" marL="0" rtl="1" algn="r">
              <a:lnSpc>
                <a:spcPct val="150000"/>
              </a:lnSpc>
              <a:spcBef>
                <a:spcPts val="1200"/>
              </a:spcBef>
              <a:spcAft>
                <a:spcPts val="1200"/>
              </a:spcAft>
              <a:buNone/>
            </a:pPr>
            <a:r>
              <a:t/>
            </a:r>
            <a:endParaRPr sz="1700">
              <a:solidFill>
                <a:schemeClr val="dk1"/>
              </a:solidFill>
            </a:endParaRPr>
          </a:p>
        </p:txBody>
      </p:sp>
      <p:sp>
        <p:nvSpPr>
          <p:cNvPr id="110" name="Google Shape;110;p21"/>
          <p:cNvSpPr/>
          <p:nvPr/>
        </p:nvSpPr>
        <p:spPr>
          <a:xfrm>
            <a:off x="579700" y="4665700"/>
            <a:ext cx="1181700" cy="3417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המשך</a:t>
            </a:r>
            <a:endParaRPr/>
          </a:p>
        </p:txBody>
      </p:sp>
      <p:pic>
        <p:nvPicPr>
          <p:cNvPr id="111" name="Google Shape;111;p21" title="2025-11-10 06-16-05.mp4">
            <a:hlinkClick r:id="rId4"/>
          </p:cNvPr>
          <p:cNvPicPr preferRelativeResize="0"/>
          <p:nvPr/>
        </p:nvPicPr>
        <p:blipFill>
          <a:blip r:embed="rId5">
            <a:alphaModFix/>
          </a:blip>
          <a:stretch>
            <a:fillRect/>
          </a:stretch>
        </p:blipFill>
        <p:spPr>
          <a:xfrm>
            <a:off x="2220288" y="1078975"/>
            <a:ext cx="4567133" cy="3425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1000"/>
                                        <p:tgtEl>
                                          <p:spTgt spid="1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idx="1" type="body"/>
          </p:nvPr>
        </p:nvSpPr>
        <p:spPr>
          <a:xfrm>
            <a:off x="175300" y="433650"/>
            <a:ext cx="8657100" cy="40596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b="1" lang="en">
                <a:solidFill>
                  <a:schemeClr val="dk1"/>
                </a:solidFill>
              </a:rPr>
              <a:t>תצוגת המערכת</a:t>
            </a:r>
            <a:endParaRPr b="1" sz="1600">
              <a:solidFill>
                <a:schemeClr val="dk1"/>
              </a:solidFill>
            </a:endParaRPr>
          </a:p>
          <a:p>
            <a:pPr indent="0" lvl="0" marL="0" rtl="1" algn="r">
              <a:lnSpc>
                <a:spcPct val="100000"/>
              </a:lnSpc>
              <a:spcBef>
                <a:spcPts val="0"/>
              </a:spcBef>
              <a:spcAft>
                <a:spcPts val="0"/>
              </a:spcAft>
              <a:buNone/>
            </a:pPr>
            <a:r>
              <a:rPr b="1" lang="en" sz="1500">
                <a:solidFill>
                  <a:schemeClr val="dk1"/>
                </a:solidFill>
              </a:rPr>
              <a:t>המערכת נראית כך- </a:t>
            </a:r>
            <a:r>
              <a:rPr lang="en" sz="1500">
                <a:solidFill>
                  <a:schemeClr val="dk1"/>
                </a:solidFill>
              </a:rPr>
              <a:t>עבור/י על כל פריט וסמן/י שקראת (</a:t>
            </a:r>
            <a:r>
              <a:rPr lang="en" sz="1500">
                <a:solidFill>
                  <a:schemeClr val="dk1"/>
                </a:solidFill>
              </a:rPr>
              <a:t>ניתן לחזור למסך הקודם בלחיצה על כפתור "חזור" למטה)</a:t>
            </a:r>
            <a:endParaRPr sz="1500">
              <a:solidFill>
                <a:schemeClr val="dk1"/>
              </a:solidFill>
            </a:endParaRPr>
          </a:p>
          <a:p>
            <a:pPr indent="0" lvl="0" marL="0" rtl="1" algn="r">
              <a:lnSpc>
                <a:spcPct val="100000"/>
              </a:lnSpc>
              <a:spcBef>
                <a:spcPts val="0"/>
              </a:spcBef>
              <a:spcAft>
                <a:spcPts val="0"/>
              </a:spcAft>
              <a:buNone/>
            </a:pPr>
            <a:r>
              <a:t/>
            </a:r>
            <a:endParaRPr sz="1500">
              <a:solidFill>
                <a:schemeClr val="dk1"/>
              </a:solidFill>
            </a:endParaRPr>
          </a:p>
        </p:txBody>
      </p:sp>
      <p:sp>
        <p:nvSpPr>
          <p:cNvPr id="117" name="Google Shape;117;p22"/>
          <p:cNvSpPr/>
          <p:nvPr/>
        </p:nvSpPr>
        <p:spPr>
          <a:xfrm>
            <a:off x="579700" y="4665700"/>
            <a:ext cx="1181700" cy="3417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המשך</a:t>
            </a:r>
            <a:endParaRPr/>
          </a:p>
        </p:txBody>
      </p:sp>
      <p:pic>
        <p:nvPicPr>
          <p:cNvPr id="118" name="Google Shape;118;p22"/>
          <p:cNvPicPr preferRelativeResize="0"/>
          <p:nvPr/>
        </p:nvPicPr>
        <p:blipFill>
          <a:blip r:embed="rId3">
            <a:alphaModFix/>
          </a:blip>
          <a:stretch>
            <a:fillRect/>
          </a:stretch>
        </p:blipFill>
        <p:spPr>
          <a:xfrm>
            <a:off x="2113750" y="1449900"/>
            <a:ext cx="5390101" cy="3045350"/>
          </a:xfrm>
          <a:prstGeom prst="rect">
            <a:avLst/>
          </a:prstGeom>
          <a:noFill/>
          <a:ln>
            <a:noFill/>
          </a:ln>
        </p:spPr>
      </p:pic>
      <p:sp>
        <p:nvSpPr>
          <p:cNvPr id="119" name="Google Shape;119;p22"/>
          <p:cNvSpPr/>
          <p:nvPr/>
        </p:nvSpPr>
        <p:spPr>
          <a:xfrm>
            <a:off x="6968925" y="1241475"/>
            <a:ext cx="952500" cy="341700"/>
          </a:xfrm>
          <a:prstGeom prst="wedgeRectCallout">
            <a:avLst>
              <a:gd fmla="val -33562" name="adj1"/>
              <a:gd fmla="val 129470" name="adj2"/>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1" algn="ctr">
              <a:spcBef>
                <a:spcPts val="0"/>
              </a:spcBef>
              <a:spcAft>
                <a:spcPts val="0"/>
              </a:spcAft>
              <a:buNone/>
            </a:pPr>
            <a:r>
              <a:rPr lang="en"/>
              <a:t>✅</a:t>
            </a:r>
            <a:r>
              <a:rPr lang="en"/>
              <a:t>מפה</a:t>
            </a:r>
            <a:endParaRPr/>
          </a:p>
        </p:txBody>
      </p:sp>
      <p:sp>
        <p:nvSpPr>
          <p:cNvPr id="120" name="Google Shape;120;p22"/>
          <p:cNvSpPr/>
          <p:nvPr/>
        </p:nvSpPr>
        <p:spPr>
          <a:xfrm>
            <a:off x="632650" y="1241475"/>
            <a:ext cx="1417200" cy="652500"/>
          </a:xfrm>
          <a:prstGeom prst="wedgeRectCallout">
            <a:avLst>
              <a:gd fmla="val 71916" name="adj1"/>
              <a:gd fmla="val 51985" name="adj2"/>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1" algn="ctr">
              <a:spcBef>
                <a:spcPts val="0"/>
              </a:spcBef>
              <a:spcAft>
                <a:spcPts val="0"/>
              </a:spcAft>
              <a:buNone/>
            </a:pPr>
            <a:r>
              <a:rPr lang="en">
                <a:solidFill>
                  <a:schemeClr val="dk1"/>
                </a:solidFill>
              </a:rPr>
              <a:t>✅</a:t>
            </a:r>
            <a:r>
              <a:rPr lang="en"/>
              <a:t>סינון יישויות במפה</a:t>
            </a:r>
            <a:endParaRPr/>
          </a:p>
        </p:txBody>
      </p:sp>
      <p:sp>
        <p:nvSpPr>
          <p:cNvPr id="121" name="Google Shape;121;p22"/>
          <p:cNvSpPr/>
          <p:nvPr/>
        </p:nvSpPr>
        <p:spPr>
          <a:xfrm>
            <a:off x="632650" y="3042075"/>
            <a:ext cx="1417200" cy="652500"/>
          </a:xfrm>
          <a:prstGeom prst="wedgeRectCallout">
            <a:avLst>
              <a:gd fmla="val 69176" name="adj1"/>
              <a:gd fmla="val 19992" name="adj2"/>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1" algn="ctr">
              <a:spcBef>
                <a:spcPts val="0"/>
              </a:spcBef>
              <a:spcAft>
                <a:spcPts val="0"/>
              </a:spcAft>
              <a:buNone/>
            </a:pPr>
            <a:r>
              <a:rPr lang="en">
                <a:solidFill>
                  <a:schemeClr val="dk1"/>
                </a:solidFill>
              </a:rPr>
              <a:t>✅</a:t>
            </a:r>
            <a:r>
              <a:rPr lang="en"/>
              <a:t>הגדל/ הקטן מפה</a:t>
            </a:r>
            <a:endParaRPr/>
          </a:p>
        </p:txBody>
      </p:sp>
      <p:sp>
        <p:nvSpPr>
          <p:cNvPr id="122" name="Google Shape;122;p22"/>
          <p:cNvSpPr/>
          <p:nvPr/>
        </p:nvSpPr>
        <p:spPr>
          <a:xfrm>
            <a:off x="7567750" y="2611500"/>
            <a:ext cx="1417200" cy="1409100"/>
          </a:xfrm>
          <a:prstGeom prst="wedgeRectCallout">
            <a:avLst>
              <a:gd fmla="val -73626" name="adj1"/>
              <a:gd fmla="val 43524" name="adj2"/>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1" algn="ctr">
              <a:spcBef>
                <a:spcPts val="0"/>
              </a:spcBef>
              <a:spcAft>
                <a:spcPts val="0"/>
              </a:spcAft>
              <a:buNone/>
            </a:pPr>
            <a:r>
              <a:rPr lang="en">
                <a:solidFill>
                  <a:schemeClr val="dk1"/>
                </a:solidFill>
              </a:rPr>
              <a:t>✅</a:t>
            </a:r>
            <a:r>
              <a:rPr lang="en"/>
              <a:t>עזר להשוואת פרטי מסלולים- מסלול מומלץ מסומן בכוכבית (*)</a:t>
            </a:r>
            <a:endParaRPr/>
          </a:p>
        </p:txBody>
      </p:sp>
      <p:sp>
        <p:nvSpPr>
          <p:cNvPr id="123" name="Google Shape;123;p22"/>
          <p:cNvSpPr/>
          <p:nvPr/>
        </p:nvSpPr>
        <p:spPr>
          <a:xfrm>
            <a:off x="632625" y="3789825"/>
            <a:ext cx="1417200" cy="413700"/>
          </a:xfrm>
          <a:prstGeom prst="wedgeRectCallout">
            <a:avLst>
              <a:gd fmla="val 70546" name="adj1"/>
              <a:gd fmla="val 22619" name="adj2"/>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1" algn="ctr">
              <a:spcBef>
                <a:spcPts val="0"/>
              </a:spcBef>
              <a:spcAft>
                <a:spcPts val="0"/>
              </a:spcAft>
              <a:buNone/>
            </a:pPr>
            <a:r>
              <a:rPr lang="en">
                <a:solidFill>
                  <a:schemeClr val="dk1"/>
                </a:solidFill>
              </a:rPr>
              <a:t>✅</a:t>
            </a:r>
            <a:r>
              <a:rPr lang="en"/>
              <a:t>מקרא מפה</a:t>
            </a:r>
            <a:endParaRPr/>
          </a:p>
        </p:txBody>
      </p:sp>
      <p:sp>
        <p:nvSpPr>
          <p:cNvPr id="124" name="Google Shape;124;p22"/>
          <p:cNvSpPr/>
          <p:nvPr/>
        </p:nvSpPr>
        <p:spPr>
          <a:xfrm>
            <a:off x="3674225" y="1241475"/>
            <a:ext cx="1716000" cy="508800"/>
          </a:xfrm>
          <a:prstGeom prst="wedgeRectCallout">
            <a:avLst>
              <a:gd fmla="val -21482" name="adj1"/>
              <a:gd fmla="val 106432" name="adj2"/>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1" algn="ctr">
              <a:spcBef>
                <a:spcPts val="0"/>
              </a:spcBef>
              <a:spcAft>
                <a:spcPts val="0"/>
              </a:spcAft>
              <a:buNone/>
            </a:pPr>
            <a:r>
              <a:rPr lang="en">
                <a:solidFill>
                  <a:schemeClr val="dk1"/>
                </a:solidFill>
              </a:rPr>
              <a:t>✅</a:t>
            </a:r>
            <a:r>
              <a:rPr lang="en"/>
              <a:t>חלופות מסלולים</a:t>
            </a:r>
            <a:endParaRPr/>
          </a:p>
        </p:txBody>
      </p:sp>
      <p:sp>
        <p:nvSpPr>
          <p:cNvPr id="125" name="Google Shape;125;p22"/>
          <p:cNvSpPr/>
          <p:nvPr/>
        </p:nvSpPr>
        <p:spPr>
          <a:xfrm>
            <a:off x="3619500" y="4459250"/>
            <a:ext cx="1483500" cy="413700"/>
          </a:xfrm>
          <a:prstGeom prst="wedgeRectCallout">
            <a:avLst>
              <a:gd fmla="val -65216" name="adj1"/>
              <a:gd fmla="val -61391" name="adj2"/>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1" algn="ctr">
              <a:spcBef>
                <a:spcPts val="0"/>
              </a:spcBef>
              <a:spcAft>
                <a:spcPts val="0"/>
              </a:spcAft>
              <a:buNone/>
            </a:pPr>
            <a:r>
              <a:rPr lang="en">
                <a:solidFill>
                  <a:schemeClr val="dk1"/>
                </a:solidFill>
              </a:rPr>
              <a:t>✅</a:t>
            </a:r>
            <a:r>
              <a:rPr lang="en"/>
              <a:t>כפתור לאישור המסלול הנבחר</a:t>
            </a:r>
            <a:endParaRPr/>
          </a:p>
        </p:txBody>
      </p:sp>
      <p:sp>
        <p:nvSpPr>
          <p:cNvPr id="126" name="Google Shape;126;p22"/>
          <p:cNvSpPr/>
          <p:nvPr/>
        </p:nvSpPr>
        <p:spPr>
          <a:xfrm>
            <a:off x="5742400" y="4531250"/>
            <a:ext cx="3089700" cy="413700"/>
          </a:xfrm>
          <a:prstGeom prst="wedgeRectCallout">
            <a:avLst>
              <a:gd fmla="val 5115" name="adj1"/>
              <a:gd fmla="val -140301" name="adj2"/>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1" algn="ctr">
              <a:spcBef>
                <a:spcPts val="0"/>
              </a:spcBef>
              <a:spcAft>
                <a:spcPts val="0"/>
              </a:spcAft>
              <a:buNone/>
            </a:pPr>
            <a:r>
              <a:rPr lang="en">
                <a:solidFill>
                  <a:schemeClr val="dk1"/>
                </a:solidFill>
              </a:rPr>
              <a:t>✅</a:t>
            </a:r>
            <a:r>
              <a:rPr lang="en"/>
              <a:t>ניתן לבחור מסלול בלחיצה על מסלול בעזר או על נעץ המסלול במפה</a:t>
            </a:r>
            <a:endParaRPr/>
          </a:p>
        </p:txBody>
      </p:sp>
      <p:sp>
        <p:nvSpPr>
          <p:cNvPr id="127" name="Google Shape;127;p22"/>
          <p:cNvSpPr/>
          <p:nvPr/>
        </p:nvSpPr>
        <p:spPr>
          <a:xfrm>
            <a:off x="1936700" y="4665700"/>
            <a:ext cx="1181700" cy="341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חזור</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idx="1" type="body"/>
          </p:nvPr>
        </p:nvSpPr>
        <p:spPr>
          <a:xfrm>
            <a:off x="4652850" y="433650"/>
            <a:ext cx="4179600" cy="43602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b="1" lang="en" sz="1600">
                <a:solidFill>
                  <a:schemeClr val="dk1"/>
                </a:solidFill>
              </a:rPr>
              <a:t>תצוגת שיקולי המערכת</a:t>
            </a:r>
            <a:endParaRPr sz="1300">
              <a:solidFill>
                <a:schemeClr val="dk1"/>
              </a:solidFill>
            </a:endParaRPr>
          </a:p>
          <a:p>
            <a:pPr indent="0" lvl="0" marL="0" rtl="1" algn="r">
              <a:lnSpc>
                <a:spcPct val="150000"/>
              </a:lnSpc>
              <a:spcBef>
                <a:spcPts val="1200"/>
              </a:spcBef>
              <a:spcAft>
                <a:spcPts val="0"/>
              </a:spcAft>
              <a:buNone/>
            </a:pPr>
            <a:r>
              <a:rPr lang="en" sz="1300">
                <a:solidFill>
                  <a:schemeClr val="dk1"/>
                </a:solidFill>
              </a:rPr>
              <a:t>המערכת מחשבת מספר רב של משתנים ותת-משתנים על מנת למצוא את המסלולים המיטביים ביותר לנסיעה כאשר היא מציגה ומתעדפת את השיקולים הבאים:</a:t>
            </a:r>
            <a:endParaRPr sz="1300">
              <a:solidFill>
                <a:schemeClr val="dk1"/>
              </a:solidFill>
            </a:endParaRPr>
          </a:p>
          <a:p>
            <a:pPr indent="-311150" lvl="0" marL="457200" rtl="1" algn="r">
              <a:spcBef>
                <a:spcPts val="1200"/>
              </a:spcBef>
              <a:spcAft>
                <a:spcPts val="0"/>
              </a:spcAft>
              <a:buSzPts val="1300"/>
              <a:buAutoNum type="arabicPeriod"/>
            </a:pPr>
            <a:r>
              <a:rPr b="1" lang="en" sz="1300">
                <a:solidFill>
                  <a:srgbClr val="FF0000"/>
                </a:solidFill>
              </a:rPr>
              <a:t>מהירות-</a:t>
            </a:r>
            <a:r>
              <a:rPr b="1" lang="en" sz="1300"/>
              <a:t> </a:t>
            </a:r>
            <a:r>
              <a:rPr lang="en" sz="1300"/>
              <a:t>תעדיף מסלול מהיר יותר, כזה שיש בו פחות עומס שמסומן בקו אדום מקווקו (סימון 1)</a:t>
            </a:r>
            <a:endParaRPr sz="1300"/>
          </a:p>
          <a:p>
            <a:pPr indent="-311150" lvl="0" marL="457200" rtl="1" algn="r">
              <a:spcBef>
                <a:spcPts val="0"/>
              </a:spcBef>
              <a:spcAft>
                <a:spcPts val="0"/>
              </a:spcAft>
              <a:buSzPts val="1300"/>
              <a:buAutoNum type="arabicPeriod"/>
            </a:pPr>
            <a:r>
              <a:rPr b="1" lang="en" sz="1300"/>
              <a:t>בטיחות- </a:t>
            </a:r>
            <a:r>
              <a:rPr lang="en" sz="1300"/>
              <a:t>תעדיף מסלול בטוח, כזה שיש בו פחות פניות וסיבובים (סימון 2, פנייה)</a:t>
            </a:r>
            <a:endParaRPr sz="1300"/>
          </a:p>
          <a:p>
            <a:pPr indent="-311150" lvl="0" marL="457200" rtl="1" algn="r">
              <a:spcBef>
                <a:spcPts val="0"/>
              </a:spcBef>
              <a:spcAft>
                <a:spcPts val="0"/>
              </a:spcAft>
              <a:buSzPts val="1300"/>
              <a:buAutoNum type="arabicPeriod"/>
            </a:pPr>
            <a:r>
              <a:rPr b="1" lang="en" sz="1300">
                <a:solidFill>
                  <a:srgbClr val="FFFF00"/>
                </a:solidFill>
                <a:highlight>
                  <a:schemeClr val="dk1"/>
                </a:highlight>
              </a:rPr>
              <a:t>עלות-</a:t>
            </a:r>
            <a:r>
              <a:rPr lang="en" sz="1300"/>
              <a:t> תעדיף מסלול שעובר פחות בכבישי אגרה (סימון 3, קו כפול צהוב)</a:t>
            </a:r>
            <a:endParaRPr sz="1300"/>
          </a:p>
          <a:p>
            <a:pPr indent="-311150" lvl="0" marL="457200" rtl="1" algn="r">
              <a:spcBef>
                <a:spcPts val="0"/>
              </a:spcBef>
              <a:spcAft>
                <a:spcPts val="0"/>
              </a:spcAft>
              <a:buSzPts val="1300"/>
              <a:buAutoNum type="arabicPeriod"/>
            </a:pPr>
            <a:r>
              <a:rPr b="1" lang="en" sz="1300">
                <a:solidFill>
                  <a:srgbClr val="00FF00"/>
                </a:solidFill>
              </a:rPr>
              <a:t>נוף-</a:t>
            </a:r>
            <a:r>
              <a:rPr b="1" lang="en" sz="1300"/>
              <a:t> </a:t>
            </a:r>
            <a:r>
              <a:rPr lang="en" sz="1300"/>
              <a:t>תעדיף מסלול שעובר ליד פארקים (סימון 4, שטח ירוק)</a:t>
            </a:r>
            <a:endParaRPr sz="1300"/>
          </a:p>
          <a:p>
            <a:pPr indent="-311150" lvl="0" marL="457200" rtl="1" algn="r">
              <a:spcBef>
                <a:spcPts val="0"/>
              </a:spcBef>
              <a:spcAft>
                <a:spcPts val="0"/>
              </a:spcAft>
              <a:buSzPts val="1300"/>
              <a:buAutoNum type="arabicPeriod"/>
            </a:pPr>
            <a:r>
              <a:rPr b="1" lang="en" sz="1300">
                <a:solidFill>
                  <a:srgbClr val="9900FF"/>
                </a:solidFill>
              </a:rPr>
              <a:t>תקשורת סלולרית</a:t>
            </a:r>
            <a:r>
              <a:rPr lang="en" sz="1300">
                <a:solidFill>
                  <a:srgbClr val="9900FF"/>
                </a:solidFill>
              </a:rPr>
              <a:t>-</a:t>
            </a:r>
            <a:r>
              <a:rPr lang="en" sz="1300"/>
              <a:t> תעדיף מסלול שנמצא בתוך רדיוס קליטה של אנטנה סלולרית (סימון 5, עיגול סגול)</a:t>
            </a:r>
            <a:endParaRPr sz="1300"/>
          </a:p>
          <a:p>
            <a:pPr indent="0" lvl="0" marL="0" rtl="1" algn="r">
              <a:lnSpc>
                <a:spcPct val="100000"/>
              </a:lnSpc>
              <a:spcBef>
                <a:spcPts val="1200"/>
              </a:spcBef>
              <a:spcAft>
                <a:spcPts val="0"/>
              </a:spcAft>
              <a:buNone/>
            </a:pPr>
            <a:r>
              <a:rPr lang="en" sz="1300">
                <a:solidFill>
                  <a:schemeClr val="dk1"/>
                </a:solidFill>
              </a:rPr>
              <a:t> (ניתן לחזור למסך הקודם בלחיצה על כפתור "חזור" למטה)</a:t>
            </a:r>
            <a:endParaRPr sz="1300"/>
          </a:p>
          <a:p>
            <a:pPr indent="0" lvl="0" marL="457200" rtl="1" algn="r">
              <a:lnSpc>
                <a:spcPct val="150000"/>
              </a:lnSpc>
              <a:spcBef>
                <a:spcPts val="0"/>
              </a:spcBef>
              <a:spcAft>
                <a:spcPts val="1200"/>
              </a:spcAft>
              <a:buNone/>
            </a:pPr>
            <a:r>
              <a:t/>
            </a:r>
            <a:endParaRPr sz="1300">
              <a:solidFill>
                <a:schemeClr val="dk1"/>
              </a:solidFill>
            </a:endParaRPr>
          </a:p>
        </p:txBody>
      </p:sp>
      <p:sp>
        <p:nvSpPr>
          <p:cNvPr id="133" name="Google Shape;133;p23"/>
          <p:cNvSpPr/>
          <p:nvPr/>
        </p:nvSpPr>
        <p:spPr>
          <a:xfrm>
            <a:off x="579700" y="4665700"/>
            <a:ext cx="1181700" cy="3417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המשך</a:t>
            </a:r>
            <a:endParaRPr/>
          </a:p>
        </p:txBody>
      </p:sp>
      <p:pic>
        <p:nvPicPr>
          <p:cNvPr id="134" name="Google Shape;134;p23"/>
          <p:cNvPicPr preferRelativeResize="0"/>
          <p:nvPr/>
        </p:nvPicPr>
        <p:blipFill rotWithShape="1">
          <a:blip r:embed="rId3">
            <a:alphaModFix/>
          </a:blip>
          <a:srcRect b="31153" l="18646" r="31762" t="3903"/>
          <a:stretch/>
        </p:blipFill>
        <p:spPr>
          <a:xfrm>
            <a:off x="314425" y="1101125"/>
            <a:ext cx="4179550" cy="3092374"/>
          </a:xfrm>
          <a:prstGeom prst="rect">
            <a:avLst/>
          </a:prstGeom>
          <a:noFill/>
          <a:ln>
            <a:noFill/>
          </a:ln>
        </p:spPr>
      </p:pic>
      <p:sp>
        <p:nvSpPr>
          <p:cNvPr id="135" name="Google Shape;135;p23"/>
          <p:cNvSpPr/>
          <p:nvPr/>
        </p:nvSpPr>
        <p:spPr>
          <a:xfrm>
            <a:off x="745025" y="1557825"/>
            <a:ext cx="339250" cy="417525"/>
          </a:xfrm>
          <a:prstGeom prst="flowChartOffpageConnector">
            <a:avLst/>
          </a:prstGeom>
          <a:solidFill>
            <a:srgbClr val="FF0000"/>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1</a:t>
            </a:r>
            <a:endParaRPr>
              <a:solidFill>
                <a:schemeClr val="lt1"/>
              </a:solidFill>
            </a:endParaRPr>
          </a:p>
        </p:txBody>
      </p:sp>
      <p:sp>
        <p:nvSpPr>
          <p:cNvPr id="136" name="Google Shape;136;p23"/>
          <p:cNvSpPr/>
          <p:nvPr/>
        </p:nvSpPr>
        <p:spPr>
          <a:xfrm>
            <a:off x="1084275" y="3019200"/>
            <a:ext cx="339250" cy="417525"/>
          </a:xfrm>
          <a:prstGeom prst="flowChartOffpageConnector">
            <a:avLst/>
          </a:prstGeom>
          <a:solidFill>
            <a:srgbClr val="00FF00"/>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4</a:t>
            </a:r>
            <a:endParaRPr>
              <a:solidFill>
                <a:schemeClr val="lt1"/>
              </a:solidFill>
            </a:endParaRPr>
          </a:p>
        </p:txBody>
      </p:sp>
      <p:sp>
        <p:nvSpPr>
          <p:cNvPr id="137" name="Google Shape;137;p23"/>
          <p:cNvSpPr/>
          <p:nvPr/>
        </p:nvSpPr>
        <p:spPr>
          <a:xfrm>
            <a:off x="1997625" y="1231625"/>
            <a:ext cx="339250" cy="417525"/>
          </a:xfrm>
          <a:prstGeom prst="flowChartOffpageConnector">
            <a:avLst/>
          </a:prstGeom>
          <a:solidFill>
            <a:srgbClr val="FFFF00"/>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3</a:t>
            </a:r>
            <a:endParaRPr>
              <a:solidFill>
                <a:schemeClr val="dk1"/>
              </a:solidFill>
            </a:endParaRPr>
          </a:p>
        </p:txBody>
      </p:sp>
      <p:sp>
        <p:nvSpPr>
          <p:cNvPr id="138" name="Google Shape;138;p23"/>
          <p:cNvSpPr/>
          <p:nvPr/>
        </p:nvSpPr>
        <p:spPr>
          <a:xfrm>
            <a:off x="3093650" y="1022875"/>
            <a:ext cx="339250" cy="417525"/>
          </a:xfrm>
          <a:prstGeom prst="flowChartOffpageConnector">
            <a:avLst/>
          </a:prstGeom>
          <a:solidFill>
            <a:srgbClr val="9900FF"/>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5</a:t>
            </a:r>
            <a:endParaRPr>
              <a:solidFill>
                <a:schemeClr val="lt1"/>
              </a:solidFill>
            </a:endParaRPr>
          </a:p>
        </p:txBody>
      </p:sp>
      <p:sp>
        <p:nvSpPr>
          <p:cNvPr id="139" name="Google Shape;139;p23"/>
          <p:cNvSpPr/>
          <p:nvPr/>
        </p:nvSpPr>
        <p:spPr>
          <a:xfrm>
            <a:off x="405775" y="3358450"/>
            <a:ext cx="339250" cy="417525"/>
          </a:xfrm>
          <a:prstGeom prst="flowChartOffpageConnector">
            <a:avLst/>
          </a:prstGeom>
          <a:solidFill>
            <a:schemeClr val="dk2"/>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2</a:t>
            </a:r>
            <a:endParaRPr>
              <a:solidFill>
                <a:schemeClr val="lt1"/>
              </a:solidFill>
            </a:endParaRPr>
          </a:p>
        </p:txBody>
      </p:sp>
      <p:sp>
        <p:nvSpPr>
          <p:cNvPr id="140" name="Google Shape;140;p23"/>
          <p:cNvSpPr/>
          <p:nvPr/>
        </p:nvSpPr>
        <p:spPr>
          <a:xfrm>
            <a:off x="1936700" y="4665700"/>
            <a:ext cx="1181700" cy="341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חזור</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4"/>
          <p:cNvSpPr txBox="1"/>
          <p:nvPr>
            <p:ph idx="1" type="body"/>
          </p:nvPr>
        </p:nvSpPr>
        <p:spPr>
          <a:xfrm>
            <a:off x="579700" y="433650"/>
            <a:ext cx="8252700" cy="43602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b="1" lang="en">
                <a:solidFill>
                  <a:schemeClr val="dk1"/>
                </a:solidFill>
              </a:rPr>
              <a:t>עזר תצוגת שיקולי מערכת</a:t>
            </a:r>
            <a:endParaRPr b="1" sz="1600">
              <a:solidFill>
                <a:schemeClr val="dk1"/>
              </a:solidFill>
            </a:endParaRPr>
          </a:p>
          <a:p>
            <a:pPr indent="-323850" lvl="0" marL="457200" rtl="1" algn="r">
              <a:lnSpc>
                <a:spcPct val="100000"/>
              </a:lnSpc>
              <a:spcBef>
                <a:spcPts val="1200"/>
              </a:spcBef>
              <a:spcAft>
                <a:spcPts val="0"/>
              </a:spcAft>
              <a:buClr>
                <a:schemeClr val="dk1"/>
              </a:buClr>
              <a:buSzPts val="1500"/>
              <a:buChar char="●"/>
            </a:pPr>
            <a:r>
              <a:rPr lang="en" sz="1500">
                <a:solidFill>
                  <a:schemeClr val="dk1"/>
                </a:solidFill>
              </a:rPr>
              <a:t>המערכת תציג בעזר כל מסלול מחולק למקטעים</a:t>
            </a:r>
            <a:endParaRPr sz="1500">
              <a:solidFill>
                <a:schemeClr val="dk1"/>
              </a:solidFill>
            </a:endParaRPr>
          </a:p>
          <a:p>
            <a:pPr indent="-323850" lvl="0" marL="457200" rtl="1" algn="r">
              <a:lnSpc>
                <a:spcPct val="100000"/>
              </a:lnSpc>
              <a:spcBef>
                <a:spcPts val="0"/>
              </a:spcBef>
              <a:spcAft>
                <a:spcPts val="0"/>
              </a:spcAft>
              <a:buClr>
                <a:schemeClr val="dk1"/>
              </a:buClr>
              <a:buSzPts val="1500"/>
              <a:buChar char="●"/>
            </a:pPr>
            <a:r>
              <a:rPr lang="en" sz="1500">
                <a:solidFill>
                  <a:schemeClr val="dk1"/>
                </a:solidFill>
              </a:rPr>
              <a:t>לכל מקטע יש קטגוריה מאפיינת מרכזית כגון מקטע נוף הוא כזה שכולו או חלק גדול ממנו עובר ליד פארק.</a:t>
            </a:r>
            <a:endParaRPr sz="1500">
              <a:solidFill>
                <a:schemeClr val="dk1"/>
              </a:solidFill>
            </a:endParaRPr>
          </a:p>
          <a:p>
            <a:pPr indent="-323850" lvl="0" marL="457200" rtl="1" algn="r">
              <a:lnSpc>
                <a:spcPct val="100000"/>
              </a:lnSpc>
              <a:spcBef>
                <a:spcPts val="0"/>
              </a:spcBef>
              <a:spcAft>
                <a:spcPts val="0"/>
              </a:spcAft>
              <a:buClr>
                <a:schemeClr val="dk1"/>
              </a:buClr>
              <a:buSzPts val="1500"/>
              <a:buChar char="●"/>
            </a:pPr>
            <a:r>
              <a:rPr lang="en" sz="1500">
                <a:solidFill>
                  <a:schemeClr val="dk1"/>
                </a:solidFill>
              </a:rPr>
              <a:t>המאפיין המרכזי יוצג בויזואליזציה בעזר ויאפשר להשוות בין השיקולים במסלולים השונים.</a:t>
            </a:r>
            <a:endParaRPr sz="1500">
              <a:solidFill>
                <a:schemeClr val="dk1"/>
              </a:solidFill>
            </a:endParaRPr>
          </a:p>
          <a:p>
            <a:pPr indent="-323850" lvl="0" marL="457200" rtl="1" algn="r">
              <a:lnSpc>
                <a:spcPct val="100000"/>
              </a:lnSpc>
              <a:spcBef>
                <a:spcPts val="0"/>
              </a:spcBef>
              <a:spcAft>
                <a:spcPts val="0"/>
              </a:spcAft>
              <a:buClr>
                <a:schemeClr val="dk1"/>
              </a:buClr>
              <a:buSzPts val="1500"/>
              <a:buChar char="●"/>
            </a:pPr>
            <a:r>
              <a:rPr lang="en" sz="1500">
                <a:solidFill>
                  <a:schemeClr val="dk1"/>
                </a:solidFill>
              </a:rPr>
              <a:t>יוצגו גם פרטים סוכמים לכל מסלול (מרחק וזמן)</a:t>
            </a:r>
            <a:r>
              <a:rPr b="1" lang="en" sz="1500">
                <a:solidFill>
                  <a:schemeClr val="dk1"/>
                </a:solidFill>
              </a:rPr>
              <a:t>, סימון 1.</a:t>
            </a:r>
            <a:endParaRPr b="1" sz="1500">
              <a:solidFill>
                <a:schemeClr val="dk1"/>
              </a:solidFill>
            </a:endParaRPr>
          </a:p>
          <a:p>
            <a:pPr indent="-323850" lvl="0" marL="457200" rtl="1" algn="r">
              <a:lnSpc>
                <a:spcPct val="100000"/>
              </a:lnSpc>
              <a:spcBef>
                <a:spcPts val="0"/>
              </a:spcBef>
              <a:spcAft>
                <a:spcPts val="0"/>
              </a:spcAft>
              <a:buClr>
                <a:schemeClr val="dk1"/>
              </a:buClr>
              <a:buSzPts val="1500"/>
              <a:buChar char="●"/>
            </a:pPr>
            <a:r>
              <a:rPr lang="en" sz="1500">
                <a:solidFill>
                  <a:schemeClr val="dk1"/>
                </a:solidFill>
              </a:rPr>
              <a:t>יוצג פרופיל המסלול, כלומר החלוקה היחסית של המאפיינים בכלל המסלול</a:t>
            </a:r>
            <a:r>
              <a:rPr b="1" lang="en" sz="1500">
                <a:solidFill>
                  <a:schemeClr val="dk1"/>
                </a:solidFill>
              </a:rPr>
              <a:t>, סימון 2.</a:t>
            </a:r>
            <a:endParaRPr sz="1500">
              <a:solidFill>
                <a:schemeClr val="dk1"/>
              </a:solidFill>
            </a:endParaRPr>
          </a:p>
          <a:p>
            <a:pPr indent="-323850" lvl="0" marL="457200" rtl="1" algn="r">
              <a:lnSpc>
                <a:spcPct val="100000"/>
              </a:lnSpc>
              <a:spcBef>
                <a:spcPts val="0"/>
              </a:spcBef>
              <a:spcAft>
                <a:spcPts val="0"/>
              </a:spcAft>
              <a:buClr>
                <a:schemeClr val="dk1"/>
              </a:buClr>
              <a:buSzPts val="1500"/>
              <a:buChar char="●"/>
            </a:pPr>
            <a:r>
              <a:rPr lang="en" sz="1500">
                <a:solidFill>
                  <a:schemeClr val="dk1"/>
                </a:solidFill>
              </a:rPr>
              <a:t>בלחיצה על כפתור מידע יוצג חלון עם פרטים של כל מסלול</a:t>
            </a:r>
            <a:r>
              <a:rPr b="1" lang="en" sz="1500">
                <a:solidFill>
                  <a:schemeClr val="dk1"/>
                </a:solidFill>
              </a:rPr>
              <a:t>, סימון 3.</a:t>
            </a:r>
            <a:endParaRPr sz="1500">
              <a:solidFill>
                <a:schemeClr val="dk1"/>
              </a:solidFill>
            </a:endParaRPr>
          </a:p>
          <a:p>
            <a:pPr indent="-323850" lvl="0" marL="457200" rtl="1" algn="r">
              <a:lnSpc>
                <a:spcPct val="100000"/>
              </a:lnSpc>
              <a:spcBef>
                <a:spcPts val="0"/>
              </a:spcBef>
              <a:spcAft>
                <a:spcPts val="0"/>
              </a:spcAft>
              <a:buClr>
                <a:schemeClr val="dk1"/>
              </a:buClr>
              <a:buSzPts val="1500"/>
              <a:buChar char="●"/>
            </a:pPr>
            <a:r>
              <a:rPr lang="en" sz="1500">
                <a:solidFill>
                  <a:schemeClr val="dk1"/>
                </a:solidFill>
              </a:rPr>
              <a:t>במקרא יופיעו סימוני הצבעים של הקטגוריות כך שאין צורך לשנן</a:t>
            </a:r>
            <a:r>
              <a:rPr b="1" lang="en" sz="1500">
                <a:solidFill>
                  <a:schemeClr val="dk1"/>
                </a:solidFill>
              </a:rPr>
              <a:t>, סימון 4.</a:t>
            </a:r>
            <a:endParaRPr b="1" sz="1500">
              <a:solidFill>
                <a:schemeClr val="dk1"/>
              </a:solidFill>
            </a:endParaRPr>
          </a:p>
          <a:p>
            <a:pPr indent="-323850" lvl="0" marL="457200" rtl="1" algn="r">
              <a:lnSpc>
                <a:spcPct val="100000"/>
              </a:lnSpc>
              <a:spcBef>
                <a:spcPts val="0"/>
              </a:spcBef>
              <a:spcAft>
                <a:spcPts val="0"/>
              </a:spcAft>
              <a:buClr>
                <a:schemeClr val="dk1"/>
              </a:buClr>
              <a:buSzPts val="1500"/>
              <a:buChar char="●"/>
            </a:pPr>
            <a:r>
              <a:rPr b="1" lang="en" sz="1500">
                <a:solidFill>
                  <a:schemeClr val="dk1"/>
                </a:solidFill>
              </a:rPr>
              <a:t>לאחר לחיצה על אישור מסלול מסומן יקפיץ חלון לאישור סופי של ההחלטה, סימון 5.</a:t>
            </a:r>
            <a:endParaRPr b="1" sz="1500">
              <a:solidFill>
                <a:schemeClr val="dk1"/>
              </a:solidFill>
            </a:endParaRPr>
          </a:p>
          <a:p>
            <a:pPr indent="0" lvl="0" marL="0" rtl="1" algn="r">
              <a:lnSpc>
                <a:spcPct val="100000"/>
              </a:lnSpc>
              <a:spcBef>
                <a:spcPts val="1200"/>
              </a:spcBef>
              <a:spcAft>
                <a:spcPts val="0"/>
              </a:spcAft>
              <a:buNone/>
            </a:pPr>
            <a:r>
              <a:rPr lang="en" sz="1500">
                <a:solidFill>
                  <a:schemeClr val="dk1"/>
                </a:solidFill>
              </a:rPr>
              <a:t> (ניתן לחזור למסך הקודם בלחיצה על כפתור "חזור" למטה)</a:t>
            </a:r>
            <a:endParaRPr b="1" sz="1500">
              <a:solidFill>
                <a:schemeClr val="dk1"/>
              </a:solidFill>
            </a:endParaRPr>
          </a:p>
          <a:p>
            <a:pPr indent="0" lvl="0" marL="457200" rtl="1" algn="r">
              <a:lnSpc>
                <a:spcPct val="150000"/>
              </a:lnSpc>
              <a:spcBef>
                <a:spcPts val="0"/>
              </a:spcBef>
              <a:spcAft>
                <a:spcPts val="1200"/>
              </a:spcAft>
              <a:buNone/>
            </a:pPr>
            <a:r>
              <a:t/>
            </a:r>
            <a:endParaRPr sz="1500">
              <a:solidFill>
                <a:schemeClr val="dk1"/>
              </a:solidFill>
            </a:endParaRPr>
          </a:p>
        </p:txBody>
      </p:sp>
      <p:sp>
        <p:nvSpPr>
          <p:cNvPr id="146" name="Google Shape;146;p24"/>
          <p:cNvSpPr/>
          <p:nvPr/>
        </p:nvSpPr>
        <p:spPr>
          <a:xfrm>
            <a:off x="579700" y="4665700"/>
            <a:ext cx="1181700" cy="3417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המשך</a:t>
            </a:r>
            <a:endParaRPr/>
          </a:p>
        </p:txBody>
      </p:sp>
      <p:pic>
        <p:nvPicPr>
          <p:cNvPr id="147" name="Google Shape;147;p24"/>
          <p:cNvPicPr preferRelativeResize="0"/>
          <p:nvPr/>
        </p:nvPicPr>
        <p:blipFill rotWithShape="1">
          <a:blip r:embed="rId3">
            <a:alphaModFix/>
          </a:blip>
          <a:srcRect b="0" l="0" r="0" t="75874"/>
          <a:stretch/>
        </p:blipFill>
        <p:spPr>
          <a:xfrm>
            <a:off x="730675" y="3276349"/>
            <a:ext cx="8166223" cy="1113100"/>
          </a:xfrm>
          <a:prstGeom prst="rect">
            <a:avLst/>
          </a:prstGeom>
          <a:noFill/>
          <a:ln>
            <a:noFill/>
          </a:ln>
        </p:spPr>
      </p:pic>
      <p:sp>
        <p:nvSpPr>
          <p:cNvPr id="148" name="Google Shape;148;p24"/>
          <p:cNvSpPr/>
          <p:nvPr/>
        </p:nvSpPr>
        <p:spPr>
          <a:xfrm>
            <a:off x="1936700" y="4665700"/>
            <a:ext cx="1181700" cy="341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חזור</a:t>
            </a:r>
            <a:endParaRPr/>
          </a:p>
        </p:txBody>
      </p:sp>
      <p:sp>
        <p:nvSpPr>
          <p:cNvPr id="149" name="Google Shape;149;p24"/>
          <p:cNvSpPr/>
          <p:nvPr/>
        </p:nvSpPr>
        <p:spPr>
          <a:xfrm>
            <a:off x="2884875" y="3201900"/>
            <a:ext cx="339250" cy="417525"/>
          </a:xfrm>
          <a:prstGeom prst="flowChartOffpageConnector">
            <a:avLst/>
          </a:prstGeom>
          <a:solidFill>
            <a:schemeClr val="lt1"/>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1</a:t>
            </a:r>
            <a:endParaRPr>
              <a:solidFill>
                <a:schemeClr val="dk1"/>
              </a:solidFill>
            </a:endParaRPr>
          </a:p>
        </p:txBody>
      </p:sp>
      <p:sp>
        <p:nvSpPr>
          <p:cNvPr id="150" name="Google Shape;150;p24"/>
          <p:cNvSpPr/>
          <p:nvPr/>
        </p:nvSpPr>
        <p:spPr>
          <a:xfrm>
            <a:off x="1936700" y="3201900"/>
            <a:ext cx="339250" cy="417525"/>
          </a:xfrm>
          <a:prstGeom prst="flowChartOffpageConnector">
            <a:avLst/>
          </a:prstGeom>
          <a:solidFill>
            <a:schemeClr val="lt1"/>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2</a:t>
            </a:r>
            <a:endParaRPr>
              <a:solidFill>
                <a:schemeClr val="dk1"/>
              </a:solidFill>
            </a:endParaRPr>
          </a:p>
        </p:txBody>
      </p:sp>
      <p:sp>
        <p:nvSpPr>
          <p:cNvPr id="151" name="Google Shape;151;p24"/>
          <p:cNvSpPr/>
          <p:nvPr/>
        </p:nvSpPr>
        <p:spPr>
          <a:xfrm>
            <a:off x="1323450" y="3201900"/>
            <a:ext cx="339250" cy="417525"/>
          </a:xfrm>
          <a:prstGeom prst="flowChartOffpageConnector">
            <a:avLst/>
          </a:prstGeom>
          <a:solidFill>
            <a:schemeClr val="lt1"/>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3</a:t>
            </a:r>
            <a:endParaRPr>
              <a:solidFill>
                <a:schemeClr val="dk1"/>
              </a:solidFill>
            </a:endParaRPr>
          </a:p>
        </p:txBody>
      </p:sp>
      <p:sp>
        <p:nvSpPr>
          <p:cNvPr id="152" name="Google Shape;152;p24"/>
          <p:cNvSpPr/>
          <p:nvPr/>
        </p:nvSpPr>
        <p:spPr>
          <a:xfrm>
            <a:off x="658000" y="3201900"/>
            <a:ext cx="339250" cy="417525"/>
          </a:xfrm>
          <a:prstGeom prst="flowChartOffpageConnector">
            <a:avLst/>
          </a:prstGeom>
          <a:solidFill>
            <a:schemeClr val="lt1"/>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4</a:t>
            </a:r>
            <a:endParaRPr>
              <a:solidFill>
                <a:schemeClr val="dk1"/>
              </a:solidFill>
            </a:endParaRPr>
          </a:p>
        </p:txBody>
      </p:sp>
      <p:sp>
        <p:nvSpPr>
          <p:cNvPr id="153" name="Google Shape;153;p24"/>
          <p:cNvSpPr/>
          <p:nvPr/>
        </p:nvSpPr>
        <p:spPr>
          <a:xfrm>
            <a:off x="2275950" y="3749925"/>
            <a:ext cx="339250" cy="417525"/>
          </a:xfrm>
          <a:prstGeom prst="flowChartOffpageConnector">
            <a:avLst/>
          </a:prstGeom>
          <a:solidFill>
            <a:schemeClr val="lt1"/>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5</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idx="1" type="body"/>
          </p:nvPr>
        </p:nvSpPr>
        <p:spPr>
          <a:xfrm>
            <a:off x="579700" y="433650"/>
            <a:ext cx="8252700" cy="43602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b="1" lang="en">
                <a:solidFill>
                  <a:schemeClr val="dk1"/>
                </a:solidFill>
              </a:rPr>
              <a:t>מהלך הניסוי</a:t>
            </a:r>
            <a:endParaRPr b="1" sz="1600">
              <a:solidFill>
                <a:schemeClr val="dk1"/>
              </a:solidFill>
            </a:endParaRPr>
          </a:p>
          <a:p>
            <a:pPr indent="0" lvl="0" marL="0" rtl="1" algn="r">
              <a:lnSpc>
                <a:spcPct val="100000"/>
              </a:lnSpc>
              <a:spcBef>
                <a:spcPts val="1200"/>
              </a:spcBef>
              <a:spcAft>
                <a:spcPts val="0"/>
              </a:spcAft>
              <a:buNone/>
            </a:pPr>
            <a:r>
              <a:rPr lang="en" sz="1500">
                <a:solidFill>
                  <a:schemeClr val="dk1"/>
                </a:solidFill>
              </a:rPr>
              <a:t>לאחר שהב</a:t>
            </a:r>
            <a:r>
              <a:rPr lang="en" sz="1500">
                <a:solidFill>
                  <a:schemeClr val="dk1"/>
                </a:solidFill>
              </a:rPr>
              <a:t>נת את מבנה ושיקולי המערכת נוכל להמשיך לשלבים הבאים:</a:t>
            </a:r>
            <a:endParaRPr sz="1500">
              <a:solidFill>
                <a:schemeClr val="dk1"/>
              </a:solidFill>
            </a:endParaRPr>
          </a:p>
          <a:p>
            <a:pPr indent="-323850" lvl="0" marL="457200" rtl="1" algn="r">
              <a:lnSpc>
                <a:spcPct val="100000"/>
              </a:lnSpc>
              <a:spcBef>
                <a:spcPts val="1200"/>
              </a:spcBef>
              <a:spcAft>
                <a:spcPts val="0"/>
              </a:spcAft>
              <a:buClr>
                <a:schemeClr val="dk1"/>
              </a:buClr>
              <a:buSzPts val="1500"/>
              <a:buChar char="●"/>
            </a:pPr>
            <a:r>
              <a:rPr lang="en" sz="1500">
                <a:solidFill>
                  <a:schemeClr val="dk1"/>
                </a:solidFill>
              </a:rPr>
              <a:t>תרגול בו יוצגו לך תרחיש במערכת בו תצטרך לבחור מסלול אופטימלי לפי הבנתך</a:t>
            </a:r>
            <a:endParaRPr sz="1500">
              <a:solidFill>
                <a:schemeClr val="dk1"/>
              </a:solidFill>
            </a:endParaRPr>
          </a:p>
          <a:p>
            <a:pPr indent="-323850" lvl="0" marL="457200" rtl="1" algn="r">
              <a:lnSpc>
                <a:spcPct val="100000"/>
              </a:lnSpc>
              <a:spcBef>
                <a:spcPts val="0"/>
              </a:spcBef>
              <a:spcAft>
                <a:spcPts val="0"/>
              </a:spcAft>
              <a:buClr>
                <a:schemeClr val="dk1"/>
              </a:buClr>
              <a:buSzPts val="1500"/>
              <a:buChar char="●"/>
            </a:pPr>
            <a:r>
              <a:rPr lang="en" sz="1500">
                <a:solidFill>
                  <a:schemeClr val="dk1"/>
                </a:solidFill>
              </a:rPr>
              <a:t>לאחר התרחיש יוצגו לך מספר שאלות על התרחיש</a:t>
            </a:r>
            <a:endParaRPr sz="1500">
              <a:solidFill>
                <a:schemeClr val="dk1"/>
              </a:solidFill>
            </a:endParaRPr>
          </a:p>
          <a:p>
            <a:pPr indent="-323850" lvl="0" marL="457200" rtl="1" algn="r">
              <a:lnSpc>
                <a:spcPct val="100000"/>
              </a:lnSpc>
              <a:spcBef>
                <a:spcPts val="0"/>
              </a:spcBef>
              <a:spcAft>
                <a:spcPts val="0"/>
              </a:spcAft>
              <a:buClr>
                <a:schemeClr val="dk1"/>
              </a:buClr>
              <a:buSzPts val="1500"/>
              <a:buChar char="●"/>
            </a:pPr>
            <a:r>
              <a:rPr lang="en" sz="1500">
                <a:solidFill>
                  <a:schemeClr val="dk1"/>
                </a:solidFill>
              </a:rPr>
              <a:t>בסיום השאלות תעבור לניסוי עצמו בו יוצגו לפניך 2 מודלי בינה מלאכותית אחד אחרי השני כאשר בכל מודל יוצגו מספר תרחישים</a:t>
            </a:r>
            <a:endParaRPr sz="1500">
              <a:solidFill>
                <a:schemeClr val="dk1"/>
              </a:solidFill>
            </a:endParaRPr>
          </a:p>
          <a:p>
            <a:pPr indent="-323850" lvl="0" marL="457200" rtl="1" algn="r">
              <a:lnSpc>
                <a:spcPct val="100000"/>
              </a:lnSpc>
              <a:spcBef>
                <a:spcPts val="0"/>
              </a:spcBef>
              <a:spcAft>
                <a:spcPts val="0"/>
              </a:spcAft>
              <a:buClr>
                <a:schemeClr val="dk1"/>
              </a:buClr>
              <a:buSzPts val="1500"/>
              <a:buChar char="●"/>
            </a:pPr>
            <a:r>
              <a:rPr lang="en" sz="1500">
                <a:solidFill>
                  <a:schemeClr val="dk1"/>
                </a:solidFill>
              </a:rPr>
              <a:t>לאחר כל תרחיש תתבקש/י לענות על שאלון קצר</a:t>
            </a:r>
            <a:endParaRPr sz="1500">
              <a:solidFill>
                <a:schemeClr val="dk1"/>
              </a:solidFill>
            </a:endParaRPr>
          </a:p>
          <a:p>
            <a:pPr indent="-323850" lvl="0" marL="457200" rtl="1" algn="r">
              <a:lnSpc>
                <a:spcPct val="100000"/>
              </a:lnSpc>
              <a:spcBef>
                <a:spcPts val="0"/>
              </a:spcBef>
              <a:spcAft>
                <a:spcPts val="0"/>
              </a:spcAft>
              <a:buClr>
                <a:schemeClr val="dk1"/>
              </a:buClr>
              <a:buSzPts val="1500"/>
              <a:buChar char="●"/>
            </a:pPr>
            <a:r>
              <a:rPr lang="en" sz="1500">
                <a:solidFill>
                  <a:schemeClr val="dk1"/>
                </a:solidFill>
              </a:rPr>
              <a:t>בתום התרחישים של כל מודל תתבקש/י לענות על שאלון מסכם מודל</a:t>
            </a:r>
            <a:endParaRPr sz="1500">
              <a:solidFill>
                <a:schemeClr val="dk1"/>
              </a:solidFill>
            </a:endParaRPr>
          </a:p>
          <a:p>
            <a:pPr indent="-323850" lvl="0" marL="457200" rtl="1" algn="r">
              <a:lnSpc>
                <a:spcPct val="100000"/>
              </a:lnSpc>
              <a:spcBef>
                <a:spcPts val="0"/>
              </a:spcBef>
              <a:spcAft>
                <a:spcPts val="0"/>
              </a:spcAft>
              <a:buClr>
                <a:schemeClr val="dk1"/>
              </a:buClr>
              <a:buSzPts val="1500"/>
              <a:buChar char="●"/>
            </a:pPr>
            <a:r>
              <a:rPr lang="en" sz="1500">
                <a:solidFill>
                  <a:schemeClr val="dk1"/>
                </a:solidFill>
              </a:rPr>
              <a:t>בתום מעבר על 2 המודלים תתבקש/י לענות על שאלות מסכם ניסוי.</a:t>
            </a:r>
            <a:endParaRPr sz="1500">
              <a:solidFill>
                <a:schemeClr val="dk1"/>
              </a:solidFill>
            </a:endParaRPr>
          </a:p>
          <a:p>
            <a:pPr indent="-323850" lvl="0" marL="457200" rtl="1" algn="r">
              <a:lnSpc>
                <a:spcPct val="100000"/>
              </a:lnSpc>
              <a:spcBef>
                <a:spcPts val="0"/>
              </a:spcBef>
              <a:spcAft>
                <a:spcPts val="0"/>
              </a:spcAft>
              <a:buClr>
                <a:schemeClr val="dk1"/>
              </a:buClr>
              <a:buSzPts val="1500"/>
              <a:buChar char="●"/>
            </a:pPr>
            <a:r>
              <a:rPr lang="en" sz="1500">
                <a:solidFill>
                  <a:schemeClr val="dk1"/>
                </a:solidFill>
              </a:rPr>
              <a:t>לבסוף נערום ראיון קצר.</a:t>
            </a:r>
            <a:endParaRPr sz="1500">
              <a:solidFill>
                <a:schemeClr val="dk1"/>
              </a:solidFill>
            </a:endParaRPr>
          </a:p>
          <a:p>
            <a:pPr indent="-323850" lvl="0" marL="457200" rtl="1" algn="r">
              <a:lnSpc>
                <a:spcPct val="100000"/>
              </a:lnSpc>
              <a:spcBef>
                <a:spcPts val="0"/>
              </a:spcBef>
              <a:spcAft>
                <a:spcPts val="0"/>
              </a:spcAft>
              <a:buClr>
                <a:schemeClr val="dk1"/>
              </a:buClr>
              <a:buSzPts val="1500"/>
              <a:buChar char="●"/>
            </a:pPr>
            <a:r>
              <a:rPr lang="en" sz="1500">
                <a:solidFill>
                  <a:schemeClr val="dk1"/>
                </a:solidFill>
              </a:rPr>
              <a:t>כעת ניתן עוד לחזור למסך הקודם בלחיצה על כפתור "חזור" למטה.</a:t>
            </a:r>
            <a:endParaRPr sz="1500">
              <a:solidFill>
                <a:schemeClr val="dk1"/>
              </a:solidFill>
            </a:endParaRPr>
          </a:p>
          <a:p>
            <a:pPr indent="-323850" lvl="0" marL="457200" rtl="1" algn="r">
              <a:lnSpc>
                <a:spcPct val="100000"/>
              </a:lnSpc>
              <a:spcBef>
                <a:spcPts val="0"/>
              </a:spcBef>
              <a:spcAft>
                <a:spcPts val="0"/>
              </a:spcAft>
              <a:buClr>
                <a:schemeClr val="dk1"/>
              </a:buClr>
              <a:buSzPts val="1500"/>
              <a:buChar char="●"/>
            </a:pPr>
            <a:r>
              <a:rPr lang="en" sz="1500">
                <a:solidFill>
                  <a:schemeClr val="dk1"/>
                </a:solidFill>
              </a:rPr>
              <a:t>בלחיצה על "המשך לתרגול" תעבור ישירות לתרחיש התרגול ללא יכולת להפסיק את הניסוי.</a:t>
            </a:r>
            <a:endParaRPr sz="1500">
              <a:solidFill>
                <a:schemeClr val="dk1"/>
              </a:solidFill>
            </a:endParaRPr>
          </a:p>
          <a:p>
            <a:pPr indent="0" lvl="0" marL="457200" rtl="1" algn="r">
              <a:lnSpc>
                <a:spcPct val="150000"/>
              </a:lnSpc>
              <a:spcBef>
                <a:spcPts val="1200"/>
              </a:spcBef>
              <a:spcAft>
                <a:spcPts val="1200"/>
              </a:spcAft>
              <a:buNone/>
            </a:pPr>
            <a:r>
              <a:t/>
            </a:r>
            <a:endParaRPr sz="1500">
              <a:solidFill>
                <a:schemeClr val="dk1"/>
              </a:solidFill>
            </a:endParaRPr>
          </a:p>
        </p:txBody>
      </p:sp>
      <p:sp>
        <p:nvSpPr>
          <p:cNvPr id="159" name="Google Shape;159;p25"/>
          <p:cNvSpPr/>
          <p:nvPr/>
        </p:nvSpPr>
        <p:spPr>
          <a:xfrm>
            <a:off x="579700" y="4665700"/>
            <a:ext cx="1181700" cy="3417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המשך לתרגול</a:t>
            </a:r>
            <a:endParaRPr/>
          </a:p>
        </p:txBody>
      </p:sp>
      <p:sp>
        <p:nvSpPr>
          <p:cNvPr id="160" name="Google Shape;160;p25"/>
          <p:cNvSpPr/>
          <p:nvPr/>
        </p:nvSpPr>
        <p:spPr>
          <a:xfrm>
            <a:off x="1936700" y="4665700"/>
            <a:ext cx="1181700" cy="341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חזור</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6"/>
          <p:cNvSpPr txBox="1"/>
          <p:nvPr>
            <p:ph idx="1" type="body"/>
          </p:nvPr>
        </p:nvSpPr>
        <p:spPr>
          <a:xfrm>
            <a:off x="175300" y="433650"/>
            <a:ext cx="8657100" cy="4059600"/>
          </a:xfrm>
          <a:prstGeom prst="rect">
            <a:avLst/>
          </a:prstGeom>
        </p:spPr>
        <p:txBody>
          <a:bodyPr anchorCtr="0" anchor="t" bIns="91425" lIns="91425" spcFirstLastPara="1" rIns="91425" wrap="square" tIns="91425">
            <a:noAutofit/>
          </a:bodyPr>
          <a:lstStyle/>
          <a:p>
            <a:pPr indent="0" lvl="0" marL="0" rtl="1" algn="ctr">
              <a:spcBef>
                <a:spcPts val="0"/>
              </a:spcBef>
              <a:spcAft>
                <a:spcPts val="0"/>
              </a:spcAft>
              <a:buNone/>
            </a:pPr>
            <a:r>
              <a:rPr b="1" lang="en"/>
              <a:t>התחלת </a:t>
            </a:r>
            <a:r>
              <a:rPr b="1" lang="en"/>
              <a:t>מודל בינה מלאכותית A</a:t>
            </a:r>
            <a:endParaRPr b="1"/>
          </a:p>
          <a:p>
            <a:pPr indent="0" lvl="0" marL="0" rtl="1" algn="r">
              <a:spcBef>
                <a:spcPts val="1200"/>
              </a:spcBef>
              <a:spcAft>
                <a:spcPts val="0"/>
              </a:spcAft>
              <a:buNone/>
            </a:pPr>
            <a:r>
              <a:rPr lang="en"/>
              <a:t>בלחיצה על המשך יוצגו לפניך מספר תרחישים שמדמים מערכת לתכנון מסלול נסיעה באמצעות בינה מלאכותית שמשתמשת במודל מסוג A </a:t>
            </a:r>
            <a:endParaRPr/>
          </a:p>
          <a:p>
            <a:pPr indent="0" lvl="0" marL="0" rtl="1" algn="r">
              <a:spcBef>
                <a:spcPts val="1200"/>
              </a:spcBef>
              <a:spcAft>
                <a:spcPts val="1200"/>
              </a:spcAft>
              <a:buNone/>
            </a:pPr>
            <a:r>
              <a:t/>
            </a:r>
            <a:endParaRPr sz="1050"/>
          </a:p>
        </p:txBody>
      </p:sp>
      <p:sp>
        <p:nvSpPr>
          <p:cNvPr id="166" name="Google Shape;166;p26"/>
          <p:cNvSpPr/>
          <p:nvPr/>
        </p:nvSpPr>
        <p:spPr>
          <a:xfrm>
            <a:off x="579700" y="4665700"/>
            <a:ext cx="1181700" cy="3417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המשך</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idx="1" type="body"/>
          </p:nvPr>
        </p:nvSpPr>
        <p:spPr>
          <a:xfrm>
            <a:off x="175300" y="433650"/>
            <a:ext cx="8657100" cy="4059600"/>
          </a:xfrm>
          <a:prstGeom prst="rect">
            <a:avLst/>
          </a:prstGeom>
        </p:spPr>
        <p:txBody>
          <a:bodyPr anchorCtr="0" anchor="t" bIns="91425" lIns="91425" spcFirstLastPara="1" rIns="91425" wrap="square" tIns="91425">
            <a:noAutofit/>
          </a:bodyPr>
          <a:lstStyle/>
          <a:p>
            <a:pPr indent="0" lvl="0" marL="0" rtl="1" algn="ctr">
              <a:spcBef>
                <a:spcPts val="0"/>
              </a:spcBef>
              <a:spcAft>
                <a:spcPts val="0"/>
              </a:spcAft>
              <a:buNone/>
            </a:pPr>
            <a:r>
              <a:rPr b="1" lang="en"/>
              <a:t>התחלת תרחיש</a:t>
            </a:r>
            <a:endParaRPr b="1"/>
          </a:p>
          <a:p>
            <a:pPr indent="0" lvl="0" marL="0" rtl="1" algn="r">
              <a:spcBef>
                <a:spcPts val="1200"/>
              </a:spcBef>
              <a:spcAft>
                <a:spcPts val="0"/>
              </a:spcAft>
              <a:buNone/>
            </a:pPr>
            <a:r>
              <a:rPr lang="en"/>
              <a:t>בלחיצה על המשך יופיע מסך מערכת תכנון הנסיעה</a:t>
            </a:r>
            <a:endParaRPr/>
          </a:p>
          <a:p>
            <a:pPr indent="0" lvl="0" marL="0" rtl="1" algn="r">
              <a:spcBef>
                <a:spcPts val="1200"/>
              </a:spcBef>
              <a:spcAft>
                <a:spcPts val="0"/>
              </a:spcAft>
              <a:buNone/>
            </a:pPr>
            <a:r>
              <a:rPr b="1" lang="en"/>
              <a:t>תזכורת:</a:t>
            </a:r>
            <a:endParaRPr b="1"/>
          </a:p>
          <a:p>
            <a:pPr indent="0" lvl="0" marL="0" rtl="1" algn="r">
              <a:spcBef>
                <a:spcPts val="1200"/>
              </a:spcBef>
              <a:spcAft>
                <a:spcPts val="0"/>
              </a:spcAft>
              <a:buNone/>
            </a:pPr>
            <a:r>
              <a:rPr lang="en"/>
              <a:t>המערכת תמליץ על אחד המסלולים שיסומן בכוכבית (*)</a:t>
            </a:r>
            <a:endParaRPr/>
          </a:p>
          <a:p>
            <a:pPr indent="0" lvl="0" marL="0" rtl="1" algn="r">
              <a:spcBef>
                <a:spcPts val="1200"/>
              </a:spcBef>
              <a:spcAft>
                <a:spcPts val="0"/>
              </a:spcAft>
              <a:buNone/>
            </a:pPr>
            <a:r>
              <a:rPr lang="en"/>
              <a:t>עלייך לבחון את כל המסלולים ולבחור את המסלול האופטימלי ביותר</a:t>
            </a:r>
            <a:endParaRPr/>
          </a:p>
          <a:p>
            <a:pPr indent="0" lvl="0" marL="0" rtl="1" algn="r">
              <a:spcBef>
                <a:spcPts val="1200"/>
              </a:spcBef>
              <a:spcAft>
                <a:spcPts val="1200"/>
              </a:spcAft>
              <a:buNone/>
            </a:pPr>
            <a:r>
              <a:rPr b="1" lang="en"/>
              <a:t>המסלול המומלץ על ידי המערכת אינו בהכרח האופטימלי ביותר! </a:t>
            </a:r>
            <a:endParaRPr sz="1050"/>
          </a:p>
        </p:txBody>
      </p:sp>
      <p:sp>
        <p:nvSpPr>
          <p:cNvPr id="172" name="Google Shape;172;p27"/>
          <p:cNvSpPr/>
          <p:nvPr/>
        </p:nvSpPr>
        <p:spPr>
          <a:xfrm>
            <a:off x="579700" y="4665700"/>
            <a:ext cx="1181700" cy="3417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המשך</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p28"/>
          <p:cNvPicPr preferRelativeResize="0"/>
          <p:nvPr/>
        </p:nvPicPr>
        <p:blipFill>
          <a:blip r:embed="rId3">
            <a:alphaModFix/>
          </a:blip>
          <a:stretch>
            <a:fillRect/>
          </a:stretch>
        </p:blipFill>
        <p:spPr>
          <a:xfrm>
            <a:off x="0" y="0"/>
            <a:ext cx="9103758" cy="51435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0" y="0"/>
            <a:ext cx="9158076" cy="51435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idx="1" type="body"/>
          </p:nvPr>
        </p:nvSpPr>
        <p:spPr>
          <a:xfrm>
            <a:off x="175300" y="433650"/>
            <a:ext cx="8657100" cy="40596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en"/>
              <a:t>סיימת את תרחיש X, ענה על השאלות במסכים הבאים</a:t>
            </a:r>
            <a:endParaRPr/>
          </a:p>
          <a:p>
            <a:pPr indent="-342900" lvl="0" marL="457200" rtl="1" algn="r">
              <a:spcBef>
                <a:spcPts val="1200"/>
              </a:spcBef>
              <a:spcAft>
                <a:spcPts val="0"/>
              </a:spcAft>
              <a:buSzPts val="1800"/>
              <a:buAutoNum type="arabicPeriod"/>
            </a:pPr>
            <a:r>
              <a:rPr lang="en"/>
              <a:t>עד כמה את/ה בטוח/ה שהמסלול שבחרת הוא המסלול האופטימלי לנסיעה?</a:t>
            </a:r>
            <a:endParaRPr sz="1050"/>
          </a:p>
        </p:txBody>
      </p:sp>
      <p:graphicFrame>
        <p:nvGraphicFramePr>
          <p:cNvPr id="188" name="Google Shape;188;p30"/>
          <p:cNvGraphicFramePr/>
          <p:nvPr/>
        </p:nvGraphicFramePr>
        <p:xfrm>
          <a:off x="572288" y="1628813"/>
          <a:ext cx="3000000" cy="3000000"/>
        </p:xfrm>
        <a:graphic>
          <a:graphicData uri="http://schemas.openxmlformats.org/drawingml/2006/table">
            <a:tbl>
              <a:tblPr>
                <a:noFill/>
                <a:tableStyleId>{2FAAC569-7433-4562-A9E7-05175CB6C9B2}</a:tableStyleId>
              </a:tblPr>
              <a:tblGrid>
                <a:gridCol w="1142775"/>
                <a:gridCol w="1142775"/>
                <a:gridCol w="1142775"/>
                <a:gridCol w="1142775"/>
                <a:gridCol w="1142775"/>
                <a:gridCol w="1142775"/>
                <a:gridCol w="1142775"/>
              </a:tblGrid>
              <a:tr h="141175">
                <a:tc>
                  <a:txBody>
                    <a:bodyPr/>
                    <a:lstStyle/>
                    <a:p>
                      <a:pPr indent="0" lvl="0" marL="0" rtl="0" algn="ctr">
                        <a:spcBef>
                          <a:spcPts val="0"/>
                        </a:spcBef>
                        <a:spcAft>
                          <a:spcPts val="0"/>
                        </a:spcAft>
                        <a:buNone/>
                      </a:pPr>
                      <a:r>
                        <a:rPr lang="en" sz="800">
                          <a:solidFill>
                            <a:schemeClr val="dk1"/>
                          </a:solidFill>
                        </a:rPr>
                        <a:t>1</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2</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3</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4</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5</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6</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7</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41175">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41175">
                <a:tc>
                  <a:txBody>
                    <a:bodyPr/>
                    <a:lstStyle/>
                    <a:p>
                      <a:pPr indent="0" lvl="0" marL="0" rtl="1" algn="ctr">
                        <a:lnSpc>
                          <a:spcPct val="115000"/>
                        </a:lnSpc>
                        <a:spcBef>
                          <a:spcPts val="0"/>
                        </a:spcBef>
                        <a:spcAft>
                          <a:spcPts val="1200"/>
                        </a:spcAft>
                        <a:buNone/>
                      </a:pPr>
                      <a:r>
                        <a:rPr lang="en" sz="1800">
                          <a:solidFill>
                            <a:schemeClr val="dk2"/>
                          </a:solidFill>
                        </a:rPr>
                        <a:t>בכלל לא בטוח/ה</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1" algn="ctr">
                        <a:lnSpc>
                          <a:spcPct val="115000"/>
                        </a:lnSpc>
                        <a:spcBef>
                          <a:spcPts val="0"/>
                        </a:spcBef>
                        <a:spcAft>
                          <a:spcPts val="1200"/>
                        </a:spcAft>
                        <a:buNone/>
                      </a:pPr>
                      <a:r>
                        <a:rPr lang="en" sz="1800">
                          <a:solidFill>
                            <a:schemeClr val="dk2"/>
                          </a:solidFill>
                        </a:rPr>
                        <a:t>בטוח/ה לחלוטין</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189" name="Google Shape;189;p30"/>
          <p:cNvSpPr/>
          <p:nvPr/>
        </p:nvSpPr>
        <p:spPr>
          <a:xfrm>
            <a:off x="579700" y="4665700"/>
            <a:ext cx="1181700" cy="3417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המשך</a:t>
            </a:r>
            <a:endParaRPr/>
          </a:p>
        </p:txBody>
      </p:sp>
      <p:sp>
        <p:nvSpPr>
          <p:cNvPr id="190" name="Google Shape;190;p30"/>
          <p:cNvSpPr txBox="1"/>
          <p:nvPr>
            <p:ph idx="1" type="body"/>
          </p:nvPr>
        </p:nvSpPr>
        <p:spPr>
          <a:xfrm>
            <a:off x="175300" y="3065450"/>
            <a:ext cx="8657100" cy="1362900"/>
          </a:xfrm>
          <a:prstGeom prst="rect">
            <a:avLst/>
          </a:prstGeom>
        </p:spPr>
        <p:txBody>
          <a:bodyPr anchorCtr="0" anchor="t" bIns="91425" lIns="91425" spcFirstLastPara="1" rIns="91425" wrap="square" tIns="91425">
            <a:noAutofit/>
          </a:bodyPr>
          <a:lstStyle/>
          <a:p>
            <a:pPr indent="0" lvl="0" marL="0" rtl="1" algn="r">
              <a:lnSpc>
                <a:spcPct val="100000"/>
              </a:lnSpc>
              <a:spcBef>
                <a:spcPts val="0"/>
              </a:spcBef>
              <a:spcAft>
                <a:spcPts val="0"/>
              </a:spcAft>
              <a:buNone/>
            </a:pPr>
            <a:r>
              <a:rPr lang="en" sz="1050"/>
              <a:t>סמן/י על הסקאלה את דרגת התחושה/הערכה שלך</a:t>
            </a:r>
            <a:endParaRPr b="1" sz="1050"/>
          </a:p>
          <a:p>
            <a:pPr indent="0" lvl="0" marL="0" rtl="1" algn="r">
              <a:lnSpc>
                <a:spcPct val="150000"/>
              </a:lnSpc>
              <a:spcBef>
                <a:spcPts val="1200"/>
              </a:spcBef>
              <a:spcAft>
                <a:spcPts val="0"/>
              </a:spcAft>
              <a:buNone/>
            </a:pPr>
            <a:r>
              <a:rPr b="1" lang="en" sz="1050"/>
              <a:t>2. </a:t>
            </a:r>
            <a:r>
              <a:rPr lang="en" sz="1050"/>
              <a:t>עד כמה המשימות היו תובעניות מבחינת דרישה מנטלית (חשיבה, קבלת החלטה, חיפוש, חישוב,השוואה)?</a:t>
            </a:r>
            <a:endParaRPr sz="1050"/>
          </a:p>
          <a:p>
            <a:pPr indent="0" lvl="0" marL="0" rtl="1" algn="r">
              <a:lnSpc>
                <a:spcPct val="150000"/>
              </a:lnSpc>
              <a:spcBef>
                <a:spcPts val="1200"/>
              </a:spcBef>
              <a:spcAft>
                <a:spcPts val="1200"/>
              </a:spcAft>
              <a:buNone/>
            </a:pPr>
            <a:r>
              <a:t/>
            </a:r>
            <a:endParaRPr sz="1050"/>
          </a:p>
        </p:txBody>
      </p:sp>
      <p:graphicFrame>
        <p:nvGraphicFramePr>
          <p:cNvPr id="191" name="Google Shape;191;p30"/>
          <p:cNvGraphicFramePr/>
          <p:nvPr/>
        </p:nvGraphicFramePr>
        <p:xfrm>
          <a:off x="667525" y="3716950"/>
          <a:ext cx="3000000" cy="3000000"/>
        </p:xfrm>
        <a:graphic>
          <a:graphicData uri="http://schemas.openxmlformats.org/drawingml/2006/table">
            <a:tbl>
              <a:tblPr>
                <a:noFill/>
                <a:tableStyleId>{2FAAC569-7433-4562-A9E7-05175CB6C9B2}</a:tableStyleId>
              </a:tblPr>
              <a:tblGrid>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tblGrid>
              <a:tr h="141175">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41175">
                <a:tc>
                  <a:txBody>
                    <a:bodyPr/>
                    <a:lstStyle/>
                    <a:p>
                      <a:pPr indent="0" lvl="0" marL="0" rtl="1" algn="ctr">
                        <a:spcBef>
                          <a:spcPts val="0"/>
                        </a:spcBef>
                        <a:spcAft>
                          <a:spcPts val="0"/>
                        </a:spcAft>
                        <a:buNone/>
                      </a:pPr>
                      <a:r>
                        <a:rPr b="1" lang="en" sz="800"/>
                        <a:t>נמוך מאוד</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1" algn="ctr">
                        <a:spcBef>
                          <a:spcPts val="0"/>
                        </a:spcBef>
                        <a:spcAft>
                          <a:spcPts val="0"/>
                        </a:spcAft>
                        <a:buNone/>
                      </a:pPr>
                      <a:r>
                        <a:rPr b="1" lang="en" sz="800"/>
                        <a:t>גבוה מאוד</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idx="1" type="body"/>
          </p:nvPr>
        </p:nvSpPr>
        <p:spPr>
          <a:xfrm>
            <a:off x="175300" y="433650"/>
            <a:ext cx="8657100" cy="4059600"/>
          </a:xfrm>
          <a:prstGeom prst="rect">
            <a:avLst/>
          </a:prstGeom>
        </p:spPr>
        <p:txBody>
          <a:bodyPr anchorCtr="0" anchor="t" bIns="91425" lIns="91425" spcFirstLastPara="1" rIns="91425" wrap="square" tIns="91425">
            <a:noAutofit/>
          </a:bodyPr>
          <a:lstStyle/>
          <a:p>
            <a:pPr indent="0" lvl="0" marL="0" rtl="1" algn="r">
              <a:lnSpc>
                <a:spcPct val="115000"/>
              </a:lnSpc>
              <a:spcBef>
                <a:spcPts val="0"/>
              </a:spcBef>
              <a:spcAft>
                <a:spcPts val="0"/>
              </a:spcAft>
              <a:buNone/>
            </a:pPr>
            <a:r>
              <a:rPr lang="en" sz="1400">
                <a:solidFill>
                  <a:schemeClr val="dk1"/>
                </a:solidFill>
              </a:rPr>
              <a:t>ענה/י על השאלות הבאות</a:t>
            </a:r>
            <a:endParaRPr sz="1400">
              <a:solidFill>
                <a:schemeClr val="dk1"/>
              </a:solidFill>
            </a:endParaRPr>
          </a:p>
          <a:p>
            <a:pPr indent="-317500" lvl="0" marL="457200" rtl="1" algn="r">
              <a:lnSpc>
                <a:spcPct val="115000"/>
              </a:lnSpc>
              <a:spcBef>
                <a:spcPts val="0"/>
              </a:spcBef>
              <a:spcAft>
                <a:spcPts val="0"/>
              </a:spcAft>
              <a:buClr>
                <a:schemeClr val="dk1"/>
              </a:buClr>
              <a:buSzPts val="1400"/>
              <a:buAutoNum type="arabicPeriod"/>
            </a:pPr>
            <a:r>
              <a:rPr lang="en" sz="1400">
                <a:solidFill>
                  <a:schemeClr val="dk1"/>
                </a:solidFill>
              </a:rPr>
              <a:t>איזה מאפיין (ֿמהירות, בטיחות וכו׳) לאורך כל המסלול היה הכי מינורי במסלול שבחרת?</a:t>
            </a:r>
            <a:endParaRPr sz="1400">
              <a:solidFill>
                <a:schemeClr val="dk1"/>
              </a:solidFill>
            </a:endParaRPr>
          </a:p>
          <a:p>
            <a:pPr indent="-317500" lvl="1" marL="914400" rtl="1" algn="r">
              <a:lnSpc>
                <a:spcPct val="115000"/>
              </a:lnSpc>
              <a:spcBef>
                <a:spcPts val="0"/>
              </a:spcBef>
              <a:spcAft>
                <a:spcPts val="0"/>
              </a:spcAft>
              <a:buClr>
                <a:schemeClr val="dk1"/>
              </a:buClr>
              <a:buSzPts val="1400"/>
              <a:buChar char="○"/>
            </a:pPr>
            <a:r>
              <a:rPr lang="en">
                <a:solidFill>
                  <a:schemeClr val="dk1"/>
                </a:solidFill>
              </a:rPr>
              <a:t>מהירות</a:t>
            </a:r>
            <a:endParaRPr>
              <a:solidFill>
                <a:schemeClr val="dk1"/>
              </a:solidFill>
            </a:endParaRPr>
          </a:p>
          <a:p>
            <a:pPr indent="-317500" lvl="1" marL="914400" rtl="1" algn="r">
              <a:lnSpc>
                <a:spcPct val="115000"/>
              </a:lnSpc>
              <a:spcBef>
                <a:spcPts val="0"/>
              </a:spcBef>
              <a:spcAft>
                <a:spcPts val="0"/>
              </a:spcAft>
              <a:buClr>
                <a:schemeClr val="dk1"/>
              </a:buClr>
              <a:buSzPts val="1400"/>
              <a:buChar char="○"/>
            </a:pPr>
            <a:r>
              <a:rPr lang="en">
                <a:solidFill>
                  <a:schemeClr val="dk1"/>
                </a:solidFill>
              </a:rPr>
              <a:t>בטיחות</a:t>
            </a:r>
            <a:endParaRPr>
              <a:solidFill>
                <a:schemeClr val="dk1"/>
              </a:solidFill>
            </a:endParaRPr>
          </a:p>
          <a:p>
            <a:pPr indent="-317500" lvl="1" marL="914400" rtl="1" algn="r">
              <a:lnSpc>
                <a:spcPct val="115000"/>
              </a:lnSpc>
              <a:spcBef>
                <a:spcPts val="0"/>
              </a:spcBef>
              <a:spcAft>
                <a:spcPts val="0"/>
              </a:spcAft>
              <a:buClr>
                <a:schemeClr val="dk1"/>
              </a:buClr>
              <a:buSzPts val="1400"/>
              <a:buChar char="○"/>
            </a:pPr>
            <a:r>
              <a:rPr lang="en">
                <a:solidFill>
                  <a:schemeClr val="dk1"/>
                </a:solidFill>
              </a:rPr>
              <a:t>עלות</a:t>
            </a:r>
            <a:endParaRPr>
              <a:solidFill>
                <a:schemeClr val="dk1"/>
              </a:solidFill>
            </a:endParaRPr>
          </a:p>
          <a:p>
            <a:pPr indent="-317500" lvl="1" marL="914400" rtl="1" algn="r">
              <a:lnSpc>
                <a:spcPct val="115000"/>
              </a:lnSpc>
              <a:spcBef>
                <a:spcPts val="0"/>
              </a:spcBef>
              <a:spcAft>
                <a:spcPts val="0"/>
              </a:spcAft>
              <a:buClr>
                <a:schemeClr val="dk1"/>
              </a:buClr>
              <a:buSzPts val="1400"/>
              <a:buChar char="○"/>
            </a:pPr>
            <a:r>
              <a:rPr lang="en">
                <a:solidFill>
                  <a:schemeClr val="dk1"/>
                </a:solidFill>
              </a:rPr>
              <a:t>נוף</a:t>
            </a:r>
            <a:endParaRPr>
              <a:solidFill>
                <a:schemeClr val="dk1"/>
              </a:solidFill>
            </a:endParaRPr>
          </a:p>
          <a:p>
            <a:pPr indent="-317500" lvl="1" marL="914400" rtl="1" algn="r">
              <a:lnSpc>
                <a:spcPct val="115000"/>
              </a:lnSpc>
              <a:spcBef>
                <a:spcPts val="0"/>
              </a:spcBef>
              <a:spcAft>
                <a:spcPts val="0"/>
              </a:spcAft>
              <a:buClr>
                <a:schemeClr val="dk1"/>
              </a:buClr>
              <a:buSzPts val="1400"/>
              <a:buChar char="○"/>
            </a:pPr>
            <a:r>
              <a:rPr lang="en">
                <a:solidFill>
                  <a:schemeClr val="dk1"/>
                </a:solidFill>
              </a:rPr>
              <a:t>תקשורת</a:t>
            </a:r>
            <a:endParaRPr>
              <a:solidFill>
                <a:schemeClr val="dk1"/>
              </a:solidFill>
            </a:endParaRPr>
          </a:p>
          <a:p>
            <a:pPr indent="-317500" lvl="0" marL="457200" rtl="1" algn="r">
              <a:lnSpc>
                <a:spcPct val="115000"/>
              </a:lnSpc>
              <a:spcBef>
                <a:spcPts val="0"/>
              </a:spcBef>
              <a:spcAft>
                <a:spcPts val="0"/>
              </a:spcAft>
              <a:buClr>
                <a:schemeClr val="dk1"/>
              </a:buClr>
              <a:buSzPts val="1400"/>
              <a:buAutoNum type="arabicPeriod"/>
            </a:pPr>
            <a:r>
              <a:rPr lang="en" sz="1400">
                <a:solidFill>
                  <a:schemeClr val="dk1"/>
                </a:solidFill>
              </a:rPr>
              <a:t>מה היה המסלול הארוך ביותר?</a:t>
            </a:r>
            <a:endParaRPr sz="1400">
              <a:solidFill>
                <a:schemeClr val="dk1"/>
              </a:solidFill>
            </a:endParaRPr>
          </a:p>
          <a:p>
            <a:pPr indent="-317500" lvl="1" marL="914400" rtl="1" algn="r">
              <a:lnSpc>
                <a:spcPct val="115000"/>
              </a:lnSpc>
              <a:spcBef>
                <a:spcPts val="0"/>
              </a:spcBef>
              <a:spcAft>
                <a:spcPts val="0"/>
              </a:spcAft>
              <a:buClr>
                <a:schemeClr val="dk1"/>
              </a:buClr>
              <a:buSzPts val="1400"/>
              <a:buChar char="○"/>
            </a:pPr>
            <a:r>
              <a:rPr lang="en">
                <a:solidFill>
                  <a:schemeClr val="dk1"/>
                </a:solidFill>
              </a:rPr>
              <a:t>מסלול א'</a:t>
            </a:r>
            <a:endParaRPr>
              <a:solidFill>
                <a:schemeClr val="dk1"/>
              </a:solidFill>
            </a:endParaRPr>
          </a:p>
          <a:p>
            <a:pPr indent="-317500" lvl="1" marL="914400" rtl="1" algn="r">
              <a:spcBef>
                <a:spcPts val="0"/>
              </a:spcBef>
              <a:spcAft>
                <a:spcPts val="0"/>
              </a:spcAft>
              <a:buClr>
                <a:schemeClr val="dk1"/>
              </a:buClr>
              <a:buSzPts val="1400"/>
              <a:buChar char="○"/>
            </a:pPr>
            <a:r>
              <a:rPr lang="en">
                <a:solidFill>
                  <a:schemeClr val="dk1"/>
                </a:solidFill>
              </a:rPr>
              <a:t>מסלול ב'</a:t>
            </a:r>
            <a:endParaRPr>
              <a:solidFill>
                <a:schemeClr val="dk1"/>
              </a:solidFill>
            </a:endParaRPr>
          </a:p>
          <a:p>
            <a:pPr indent="-317500" lvl="1" marL="914400" rtl="1" algn="r">
              <a:spcBef>
                <a:spcPts val="0"/>
              </a:spcBef>
              <a:spcAft>
                <a:spcPts val="0"/>
              </a:spcAft>
              <a:buClr>
                <a:schemeClr val="dk1"/>
              </a:buClr>
              <a:buSzPts val="1400"/>
              <a:buChar char="○"/>
            </a:pPr>
            <a:r>
              <a:rPr lang="en">
                <a:solidFill>
                  <a:schemeClr val="dk1"/>
                </a:solidFill>
              </a:rPr>
              <a:t>מסלול ג'</a:t>
            </a:r>
            <a:endParaRPr>
              <a:solidFill>
                <a:schemeClr val="dk1"/>
              </a:solidFill>
            </a:endParaRPr>
          </a:p>
          <a:p>
            <a:pPr indent="-317500" lvl="0" marL="457200" rtl="1" algn="r">
              <a:lnSpc>
                <a:spcPct val="115000"/>
              </a:lnSpc>
              <a:spcBef>
                <a:spcPts val="0"/>
              </a:spcBef>
              <a:spcAft>
                <a:spcPts val="0"/>
              </a:spcAft>
              <a:buClr>
                <a:schemeClr val="dk1"/>
              </a:buClr>
              <a:buSzPts val="1400"/>
              <a:buAutoNum type="arabicPeriod"/>
            </a:pPr>
            <a:r>
              <a:rPr lang="en" sz="1400">
                <a:solidFill>
                  <a:schemeClr val="dk1"/>
                </a:solidFill>
              </a:rPr>
              <a:t>כמה אזורי תקשורת סלולרית (עיגולים) הופיעו במפה?</a:t>
            </a:r>
            <a:endParaRPr sz="1400">
              <a:solidFill>
                <a:schemeClr val="dk1"/>
              </a:solidFill>
            </a:endParaRPr>
          </a:p>
          <a:p>
            <a:pPr indent="-317500" lvl="1" marL="914400" rtl="1" algn="r">
              <a:lnSpc>
                <a:spcPct val="115000"/>
              </a:lnSpc>
              <a:spcBef>
                <a:spcPts val="0"/>
              </a:spcBef>
              <a:spcAft>
                <a:spcPts val="0"/>
              </a:spcAft>
              <a:buClr>
                <a:schemeClr val="dk1"/>
              </a:buClr>
              <a:buSzPts val="1400"/>
              <a:buChar char="○"/>
            </a:pPr>
            <a:r>
              <a:rPr lang="en">
                <a:solidFill>
                  <a:schemeClr val="dk1"/>
                </a:solidFill>
              </a:rPr>
              <a:t>לא היו</a:t>
            </a:r>
            <a:endParaRPr>
              <a:solidFill>
                <a:schemeClr val="dk1"/>
              </a:solidFill>
            </a:endParaRPr>
          </a:p>
          <a:p>
            <a:pPr indent="-317500" lvl="1" marL="914400" rtl="1" algn="r">
              <a:lnSpc>
                <a:spcPct val="115000"/>
              </a:lnSpc>
              <a:spcBef>
                <a:spcPts val="0"/>
              </a:spcBef>
              <a:spcAft>
                <a:spcPts val="0"/>
              </a:spcAft>
              <a:buClr>
                <a:schemeClr val="dk1"/>
              </a:buClr>
              <a:buSzPts val="1400"/>
              <a:buChar char="○"/>
            </a:pPr>
            <a:r>
              <a:rPr lang="en">
                <a:solidFill>
                  <a:schemeClr val="dk1"/>
                </a:solidFill>
              </a:rPr>
              <a:t>1</a:t>
            </a:r>
            <a:endParaRPr>
              <a:solidFill>
                <a:schemeClr val="dk1"/>
              </a:solidFill>
            </a:endParaRPr>
          </a:p>
          <a:p>
            <a:pPr indent="-317500" lvl="1" marL="914400" rtl="1" algn="r">
              <a:lnSpc>
                <a:spcPct val="115000"/>
              </a:lnSpc>
              <a:spcBef>
                <a:spcPts val="0"/>
              </a:spcBef>
              <a:spcAft>
                <a:spcPts val="0"/>
              </a:spcAft>
              <a:buClr>
                <a:schemeClr val="dk1"/>
              </a:buClr>
              <a:buSzPts val="1400"/>
              <a:buChar char="○"/>
            </a:pPr>
            <a:r>
              <a:rPr lang="en">
                <a:solidFill>
                  <a:schemeClr val="dk1"/>
                </a:solidFill>
              </a:rPr>
              <a:t>2</a:t>
            </a:r>
            <a:endParaRPr>
              <a:solidFill>
                <a:schemeClr val="dk1"/>
              </a:solidFill>
            </a:endParaRPr>
          </a:p>
          <a:p>
            <a:pPr indent="-317500" lvl="1" marL="914400" rtl="1" algn="r">
              <a:lnSpc>
                <a:spcPct val="115000"/>
              </a:lnSpc>
              <a:spcBef>
                <a:spcPts val="0"/>
              </a:spcBef>
              <a:spcAft>
                <a:spcPts val="0"/>
              </a:spcAft>
              <a:buClr>
                <a:schemeClr val="dk1"/>
              </a:buClr>
              <a:buSzPts val="1400"/>
              <a:buChar char="○"/>
            </a:pPr>
            <a:r>
              <a:rPr lang="en">
                <a:solidFill>
                  <a:schemeClr val="dk1"/>
                </a:solidFill>
              </a:rPr>
              <a:t>3</a:t>
            </a:r>
            <a:endParaRPr>
              <a:solidFill>
                <a:schemeClr val="dk1"/>
              </a:solidFill>
            </a:endParaRPr>
          </a:p>
          <a:p>
            <a:pPr indent="0" lvl="0" marL="457200" rtl="1" algn="r">
              <a:lnSpc>
                <a:spcPct val="115000"/>
              </a:lnSpc>
              <a:spcBef>
                <a:spcPts val="0"/>
              </a:spcBef>
              <a:spcAft>
                <a:spcPts val="0"/>
              </a:spcAft>
              <a:buNone/>
            </a:pPr>
            <a:r>
              <a:t/>
            </a:r>
            <a:endParaRPr sz="1050" strike="sngStrike"/>
          </a:p>
          <a:p>
            <a:pPr indent="0" lvl="0" marL="0" rtl="1" algn="r">
              <a:lnSpc>
                <a:spcPct val="115000"/>
              </a:lnSpc>
              <a:spcBef>
                <a:spcPts val="1200"/>
              </a:spcBef>
              <a:spcAft>
                <a:spcPts val="1200"/>
              </a:spcAft>
              <a:buNone/>
            </a:pPr>
            <a:r>
              <a:t/>
            </a:r>
            <a:endParaRPr sz="1050"/>
          </a:p>
        </p:txBody>
      </p:sp>
      <p:sp>
        <p:nvSpPr>
          <p:cNvPr id="197" name="Google Shape;197;p31"/>
          <p:cNvSpPr/>
          <p:nvPr/>
        </p:nvSpPr>
        <p:spPr>
          <a:xfrm>
            <a:off x="579700" y="4665700"/>
            <a:ext cx="1874100" cy="3417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המשך לתרחיש הבא</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2"/>
          <p:cNvSpPr txBox="1"/>
          <p:nvPr>
            <p:ph idx="1" type="body"/>
          </p:nvPr>
        </p:nvSpPr>
        <p:spPr>
          <a:xfrm>
            <a:off x="311700" y="702850"/>
            <a:ext cx="8520600" cy="3416400"/>
          </a:xfrm>
          <a:prstGeom prst="rect">
            <a:avLst/>
          </a:prstGeom>
        </p:spPr>
        <p:txBody>
          <a:bodyPr anchorCtr="0" anchor="ctr" bIns="91425" lIns="91425" spcFirstLastPara="1" rIns="91425" wrap="square" tIns="91425">
            <a:normAutofit/>
          </a:bodyPr>
          <a:lstStyle/>
          <a:p>
            <a:pPr indent="0" lvl="0" marL="0" rtl="1" algn="ctr">
              <a:spcBef>
                <a:spcPts val="0"/>
              </a:spcBef>
              <a:spcAft>
                <a:spcPts val="0"/>
              </a:spcAft>
              <a:buNone/>
            </a:pPr>
            <a:r>
              <a:rPr lang="en"/>
              <a:t>סיימת את שלב התרגול</a:t>
            </a:r>
            <a:endParaRPr/>
          </a:p>
          <a:p>
            <a:pPr indent="0" lvl="0" marL="0" rtl="1" algn="ctr">
              <a:spcBef>
                <a:spcPts val="1200"/>
              </a:spcBef>
              <a:spcAft>
                <a:spcPts val="1200"/>
              </a:spcAft>
              <a:buNone/>
            </a:pPr>
            <a:r>
              <a:rPr lang="en"/>
              <a:t>לחיצה על המשך תעביר אותך לשלב הניסוי בו תבצע/י X תרחישים זהים לאלו שביצעת בתרגול </a:t>
            </a:r>
            <a:endParaRPr/>
          </a:p>
        </p:txBody>
      </p:sp>
      <p:sp>
        <p:nvSpPr>
          <p:cNvPr id="203" name="Google Shape;203;p32"/>
          <p:cNvSpPr/>
          <p:nvPr/>
        </p:nvSpPr>
        <p:spPr>
          <a:xfrm>
            <a:off x="579700" y="4665700"/>
            <a:ext cx="1181700" cy="3417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המשך</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3"/>
          <p:cNvSpPr txBox="1"/>
          <p:nvPr>
            <p:ph idx="1" type="body"/>
          </p:nvPr>
        </p:nvSpPr>
        <p:spPr>
          <a:xfrm>
            <a:off x="311700" y="702850"/>
            <a:ext cx="8520600" cy="3416400"/>
          </a:xfrm>
          <a:prstGeom prst="rect">
            <a:avLst/>
          </a:prstGeom>
        </p:spPr>
        <p:txBody>
          <a:bodyPr anchorCtr="0" anchor="ctr" bIns="91425" lIns="91425" spcFirstLastPara="1" rIns="91425" wrap="square" tIns="91425">
            <a:normAutofit/>
          </a:bodyPr>
          <a:lstStyle/>
          <a:p>
            <a:pPr indent="0" lvl="0" marL="0" rtl="1" algn="ctr">
              <a:spcBef>
                <a:spcPts val="0"/>
              </a:spcBef>
              <a:spcAft>
                <a:spcPts val="0"/>
              </a:spcAft>
              <a:buNone/>
            </a:pPr>
            <a:r>
              <a:rPr lang="en"/>
              <a:t>סיימת את תרחישי מודל A</a:t>
            </a:r>
            <a:endParaRPr/>
          </a:p>
          <a:p>
            <a:pPr indent="0" lvl="0" marL="0" rtl="1" algn="ctr">
              <a:spcBef>
                <a:spcPts val="1200"/>
              </a:spcBef>
              <a:spcAft>
                <a:spcPts val="1200"/>
              </a:spcAft>
              <a:buNone/>
            </a:pPr>
            <a:r>
              <a:rPr lang="en"/>
              <a:t>לחיצה על המשך תעביר לשאלון על מודל זה</a:t>
            </a:r>
            <a:endParaRPr/>
          </a:p>
        </p:txBody>
      </p:sp>
      <p:sp>
        <p:nvSpPr>
          <p:cNvPr id="209" name="Google Shape;209;p33"/>
          <p:cNvSpPr/>
          <p:nvPr/>
        </p:nvSpPr>
        <p:spPr>
          <a:xfrm>
            <a:off x="579700" y="4665700"/>
            <a:ext cx="1181700" cy="3417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המשך</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4"/>
          <p:cNvSpPr txBox="1"/>
          <p:nvPr>
            <p:ph idx="1" type="body"/>
          </p:nvPr>
        </p:nvSpPr>
        <p:spPr>
          <a:xfrm>
            <a:off x="175300" y="93175"/>
            <a:ext cx="8657100" cy="4400100"/>
          </a:xfrm>
          <a:prstGeom prst="rect">
            <a:avLst/>
          </a:prstGeom>
        </p:spPr>
        <p:txBody>
          <a:bodyPr anchorCtr="0" anchor="t" bIns="91425" lIns="91425" spcFirstLastPara="1" rIns="91425" wrap="square" tIns="91425">
            <a:noAutofit/>
          </a:bodyPr>
          <a:lstStyle/>
          <a:p>
            <a:pPr indent="0" lvl="0" marL="0" rtl="1" algn="r">
              <a:lnSpc>
                <a:spcPct val="100000"/>
              </a:lnSpc>
              <a:spcBef>
                <a:spcPts val="0"/>
              </a:spcBef>
              <a:spcAft>
                <a:spcPts val="0"/>
              </a:spcAft>
              <a:buNone/>
            </a:pPr>
            <a:r>
              <a:rPr lang="en" sz="1050"/>
              <a:t>סמן/י על כל אחת מהסקאלות את דרגת התחושה/הערכה שלכם בנוגע לשימוש במודל זה</a:t>
            </a:r>
            <a:endParaRPr b="1" sz="1050"/>
          </a:p>
          <a:p>
            <a:pPr indent="-295275" lvl="0" marL="457200" rtl="1" algn="r">
              <a:lnSpc>
                <a:spcPct val="150000"/>
              </a:lnSpc>
              <a:spcBef>
                <a:spcPts val="1200"/>
              </a:spcBef>
              <a:spcAft>
                <a:spcPts val="0"/>
              </a:spcAft>
              <a:buSzPts val="1050"/>
              <a:buAutoNum type="arabicPeriod"/>
            </a:pPr>
            <a:r>
              <a:rPr b="1" lang="en" sz="1050"/>
              <a:t>דרישה מנטלית:</a:t>
            </a:r>
            <a:r>
              <a:rPr lang="en" sz="1050"/>
              <a:t> עד כמה המשימות היו תובעניות מבחינת דרישה מנטלית (חשיבה, קבלת החלטה, חיפוש, חישוב,השוואה)?</a:t>
            </a:r>
            <a:endParaRPr sz="1050"/>
          </a:p>
          <a:p>
            <a:pPr indent="0" lvl="0" marL="457200" rtl="1" algn="r">
              <a:lnSpc>
                <a:spcPct val="150000"/>
              </a:lnSpc>
              <a:spcBef>
                <a:spcPts val="1200"/>
              </a:spcBef>
              <a:spcAft>
                <a:spcPts val="0"/>
              </a:spcAft>
              <a:buNone/>
            </a:pPr>
            <a:r>
              <a:t/>
            </a:r>
            <a:endParaRPr sz="1050" strike="sngStrike"/>
          </a:p>
          <a:p>
            <a:pPr indent="-295275" lvl="0" marL="457200" rtl="1" algn="r">
              <a:lnSpc>
                <a:spcPct val="150000"/>
              </a:lnSpc>
              <a:spcBef>
                <a:spcPts val="1200"/>
              </a:spcBef>
              <a:spcAft>
                <a:spcPts val="0"/>
              </a:spcAft>
              <a:buSzPts val="1050"/>
              <a:buAutoNum type="arabicPeriod"/>
            </a:pPr>
            <a:r>
              <a:rPr b="1" lang="en" sz="1050"/>
              <a:t>דרישת זמן:</a:t>
            </a:r>
            <a:r>
              <a:rPr lang="en" sz="1050"/>
              <a:t> עד כמה קצב המשימות היה מהיר ודחוק בזמן?</a:t>
            </a:r>
            <a:endParaRPr sz="1050"/>
          </a:p>
          <a:p>
            <a:pPr indent="0" lvl="0" marL="457200" rtl="1" algn="r">
              <a:lnSpc>
                <a:spcPct val="150000"/>
              </a:lnSpc>
              <a:spcBef>
                <a:spcPts val="1200"/>
              </a:spcBef>
              <a:spcAft>
                <a:spcPts val="0"/>
              </a:spcAft>
              <a:buNone/>
            </a:pPr>
            <a:r>
              <a:t/>
            </a:r>
            <a:endParaRPr sz="1050"/>
          </a:p>
          <a:p>
            <a:pPr indent="-295275" lvl="0" marL="457200" rtl="1" algn="r">
              <a:lnSpc>
                <a:spcPct val="150000"/>
              </a:lnSpc>
              <a:spcBef>
                <a:spcPts val="1200"/>
              </a:spcBef>
              <a:spcAft>
                <a:spcPts val="0"/>
              </a:spcAft>
              <a:buSzPts val="1050"/>
              <a:buAutoNum type="arabicPeriod"/>
            </a:pPr>
            <a:r>
              <a:rPr b="1" lang="en" sz="1050"/>
              <a:t>ביצוע:</a:t>
            </a:r>
            <a:r>
              <a:rPr lang="en" sz="1050"/>
              <a:t> עד כמה הצלחת לבצע את מה שהתבקשת לעשות?</a:t>
            </a:r>
            <a:endParaRPr sz="1050"/>
          </a:p>
          <a:p>
            <a:pPr indent="0" lvl="0" marL="457200" rtl="1" algn="r">
              <a:lnSpc>
                <a:spcPct val="150000"/>
              </a:lnSpc>
              <a:spcBef>
                <a:spcPts val="1200"/>
              </a:spcBef>
              <a:spcAft>
                <a:spcPts val="0"/>
              </a:spcAft>
              <a:buNone/>
            </a:pPr>
            <a:r>
              <a:t/>
            </a:r>
            <a:endParaRPr sz="1050"/>
          </a:p>
          <a:p>
            <a:pPr indent="-295275" lvl="0" marL="457200" rtl="1" algn="r">
              <a:lnSpc>
                <a:spcPct val="150000"/>
              </a:lnSpc>
              <a:spcBef>
                <a:spcPts val="1200"/>
              </a:spcBef>
              <a:spcAft>
                <a:spcPts val="0"/>
              </a:spcAft>
              <a:buSzPts val="1050"/>
              <a:buAutoNum type="arabicPeriod"/>
            </a:pPr>
            <a:r>
              <a:rPr b="1" lang="en" sz="1050"/>
              <a:t>מאמץ: </a:t>
            </a:r>
            <a:r>
              <a:rPr lang="en" sz="1050"/>
              <a:t>כמה קשה היית צריך/ה לעבוד על מנת להגיע לתוצאות הרצויות?</a:t>
            </a:r>
            <a:endParaRPr sz="1050"/>
          </a:p>
          <a:p>
            <a:pPr indent="0" lvl="0" marL="457200" rtl="1" algn="r">
              <a:lnSpc>
                <a:spcPct val="150000"/>
              </a:lnSpc>
              <a:spcBef>
                <a:spcPts val="1200"/>
              </a:spcBef>
              <a:spcAft>
                <a:spcPts val="0"/>
              </a:spcAft>
              <a:buNone/>
            </a:pPr>
            <a:r>
              <a:t/>
            </a:r>
            <a:endParaRPr sz="1050"/>
          </a:p>
          <a:p>
            <a:pPr indent="-295275" lvl="0" marL="457200" rtl="1" algn="r">
              <a:lnSpc>
                <a:spcPct val="150000"/>
              </a:lnSpc>
              <a:spcBef>
                <a:spcPts val="1200"/>
              </a:spcBef>
              <a:spcAft>
                <a:spcPts val="0"/>
              </a:spcAft>
              <a:buSzPts val="1050"/>
              <a:buAutoNum type="arabicPeriod"/>
            </a:pPr>
            <a:r>
              <a:rPr b="1" lang="en" sz="1050"/>
              <a:t>תסכול:</a:t>
            </a:r>
            <a:r>
              <a:rPr lang="en" sz="1050"/>
              <a:t> עד כמה חסר ביטחון, מיואש, מתוח, לחוץ ועצבני היית?</a:t>
            </a:r>
            <a:endParaRPr sz="1050"/>
          </a:p>
        </p:txBody>
      </p:sp>
      <p:graphicFrame>
        <p:nvGraphicFramePr>
          <p:cNvPr id="215" name="Google Shape;215;p34"/>
          <p:cNvGraphicFramePr/>
          <p:nvPr/>
        </p:nvGraphicFramePr>
        <p:xfrm>
          <a:off x="667525" y="744675"/>
          <a:ext cx="3000000" cy="3000000"/>
        </p:xfrm>
        <a:graphic>
          <a:graphicData uri="http://schemas.openxmlformats.org/drawingml/2006/table">
            <a:tbl>
              <a:tblPr>
                <a:noFill/>
                <a:tableStyleId>{2FAAC569-7433-4562-A9E7-05175CB6C9B2}</a:tableStyleId>
              </a:tblPr>
              <a:tblGrid>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tblGrid>
              <a:tr h="141175">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41175">
                <a:tc>
                  <a:txBody>
                    <a:bodyPr/>
                    <a:lstStyle/>
                    <a:p>
                      <a:pPr indent="0" lvl="0" marL="0" rtl="1" algn="ctr">
                        <a:spcBef>
                          <a:spcPts val="0"/>
                        </a:spcBef>
                        <a:spcAft>
                          <a:spcPts val="0"/>
                        </a:spcAft>
                        <a:buNone/>
                      </a:pPr>
                      <a:r>
                        <a:rPr b="1" lang="en" sz="800"/>
                        <a:t>נמוך מאוד</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1" algn="ctr">
                        <a:spcBef>
                          <a:spcPts val="0"/>
                        </a:spcBef>
                        <a:spcAft>
                          <a:spcPts val="0"/>
                        </a:spcAft>
                        <a:buNone/>
                      </a:pPr>
                      <a:r>
                        <a:rPr b="1" lang="en" sz="800"/>
                        <a:t>גבוה מאוד</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216" name="Google Shape;216;p34"/>
          <p:cNvGraphicFramePr/>
          <p:nvPr/>
        </p:nvGraphicFramePr>
        <p:xfrm>
          <a:off x="667525" y="1516025"/>
          <a:ext cx="3000000" cy="3000000"/>
        </p:xfrm>
        <a:graphic>
          <a:graphicData uri="http://schemas.openxmlformats.org/drawingml/2006/table">
            <a:tbl>
              <a:tblPr>
                <a:noFill/>
                <a:tableStyleId>{2FAAC569-7433-4562-A9E7-05175CB6C9B2}</a:tableStyleId>
              </a:tblPr>
              <a:tblGrid>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tblGrid>
              <a:tr h="141175">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41175">
                <a:tc>
                  <a:txBody>
                    <a:bodyPr/>
                    <a:lstStyle/>
                    <a:p>
                      <a:pPr indent="0" lvl="0" marL="0" rtl="1" algn="ctr">
                        <a:spcBef>
                          <a:spcPts val="0"/>
                        </a:spcBef>
                        <a:spcAft>
                          <a:spcPts val="0"/>
                        </a:spcAft>
                        <a:buNone/>
                      </a:pPr>
                      <a:r>
                        <a:rPr b="1" lang="en" sz="800"/>
                        <a:t>נמוך מאוד</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1" algn="ctr">
                        <a:spcBef>
                          <a:spcPts val="0"/>
                        </a:spcBef>
                        <a:spcAft>
                          <a:spcPts val="0"/>
                        </a:spcAft>
                        <a:buNone/>
                      </a:pPr>
                      <a:r>
                        <a:rPr b="1" lang="en" sz="800"/>
                        <a:t>גבוה מאוד</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217" name="Google Shape;217;p34"/>
          <p:cNvGraphicFramePr/>
          <p:nvPr/>
        </p:nvGraphicFramePr>
        <p:xfrm>
          <a:off x="667525" y="2287375"/>
          <a:ext cx="3000000" cy="3000000"/>
        </p:xfrm>
        <a:graphic>
          <a:graphicData uri="http://schemas.openxmlformats.org/drawingml/2006/table">
            <a:tbl>
              <a:tblPr>
                <a:noFill/>
                <a:tableStyleId>{2FAAC569-7433-4562-A9E7-05175CB6C9B2}</a:tableStyleId>
              </a:tblPr>
              <a:tblGrid>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tblGrid>
              <a:tr h="141175">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41175">
                <a:tc>
                  <a:txBody>
                    <a:bodyPr/>
                    <a:lstStyle/>
                    <a:p>
                      <a:pPr indent="0" lvl="0" marL="0" rtl="1" algn="ctr">
                        <a:spcBef>
                          <a:spcPts val="0"/>
                        </a:spcBef>
                        <a:spcAft>
                          <a:spcPts val="0"/>
                        </a:spcAft>
                        <a:buNone/>
                      </a:pPr>
                      <a:r>
                        <a:rPr b="1" lang="en" sz="800"/>
                        <a:t>טוב</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1" algn="ctr">
                        <a:spcBef>
                          <a:spcPts val="0"/>
                        </a:spcBef>
                        <a:spcAft>
                          <a:spcPts val="0"/>
                        </a:spcAft>
                        <a:buNone/>
                      </a:pPr>
                      <a:r>
                        <a:rPr b="1" lang="en" sz="800"/>
                        <a:t>גרוע</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218" name="Google Shape;218;p34"/>
          <p:cNvGraphicFramePr/>
          <p:nvPr/>
        </p:nvGraphicFramePr>
        <p:xfrm>
          <a:off x="667525" y="3111300"/>
          <a:ext cx="3000000" cy="3000000"/>
        </p:xfrm>
        <a:graphic>
          <a:graphicData uri="http://schemas.openxmlformats.org/drawingml/2006/table">
            <a:tbl>
              <a:tblPr>
                <a:noFill/>
                <a:tableStyleId>{2FAAC569-7433-4562-A9E7-05175CB6C9B2}</a:tableStyleId>
              </a:tblPr>
              <a:tblGrid>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tblGrid>
              <a:tr h="141175">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41175">
                <a:tc>
                  <a:txBody>
                    <a:bodyPr/>
                    <a:lstStyle/>
                    <a:p>
                      <a:pPr indent="0" lvl="0" marL="0" rtl="1" algn="ctr">
                        <a:spcBef>
                          <a:spcPts val="0"/>
                        </a:spcBef>
                        <a:spcAft>
                          <a:spcPts val="0"/>
                        </a:spcAft>
                        <a:buNone/>
                      </a:pPr>
                      <a:r>
                        <a:rPr b="1" lang="en" sz="800"/>
                        <a:t>נמוך מאוד</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1" algn="ctr">
                        <a:spcBef>
                          <a:spcPts val="0"/>
                        </a:spcBef>
                        <a:spcAft>
                          <a:spcPts val="0"/>
                        </a:spcAft>
                        <a:buNone/>
                      </a:pPr>
                      <a:r>
                        <a:rPr b="1" lang="en" sz="800"/>
                        <a:t>גבוה מאוד</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219" name="Google Shape;219;p34"/>
          <p:cNvGraphicFramePr/>
          <p:nvPr/>
        </p:nvGraphicFramePr>
        <p:xfrm>
          <a:off x="667525" y="3888500"/>
          <a:ext cx="3000000" cy="3000000"/>
        </p:xfrm>
        <a:graphic>
          <a:graphicData uri="http://schemas.openxmlformats.org/drawingml/2006/table">
            <a:tbl>
              <a:tblPr>
                <a:noFill/>
                <a:tableStyleId>{2FAAC569-7433-4562-A9E7-05175CB6C9B2}</a:tableStyleId>
              </a:tblPr>
              <a:tblGrid>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gridCol w="364625"/>
              </a:tblGrid>
              <a:tr h="141175">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800">
                          <a:solidFill>
                            <a:schemeClr val="dk1"/>
                          </a:solidFill>
                        </a:rPr>
                        <a:t>🔘</a:t>
                      </a:r>
                      <a:endParaRPr sz="800">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41175">
                <a:tc>
                  <a:txBody>
                    <a:bodyPr/>
                    <a:lstStyle/>
                    <a:p>
                      <a:pPr indent="0" lvl="0" marL="0" rtl="1" algn="ctr">
                        <a:spcBef>
                          <a:spcPts val="0"/>
                        </a:spcBef>
                        <a:spcAft>
                          <a:spcPts val="0"/>
                        </a:spcAft>
                        <a:buNone/>
                      </a:pPr>
                      <a:r>
                        <a:rPr b="1" lang="en" sz="800"/>
                        <a:t>נמוך מאוד</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1" algn="ctr">
                        <a:spcBef>
                          <a:spcPts val="0"/>
                        </a:spcBef>
                        <a:spcAft>
                          <a:spcPts val="0"/>
                        </a:spcAft>
                        <a:buNone/>
                      </a:pPr>
                      <a:r>
                        <a:rPr b="1" lang="en" sz="800"/>
                        <a:t>גבוה מאוד</a:t>
                      </a:r>
                      <a:endParaRPr b="1" sz="800"/>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220" name="Google Shape;220;p34"/>
          <p:cNvSpPr/>
          <p:nvPr/>
        </p:nvSpPr>
        <p:spPr>
          <a:xfrm>
            <a:off x="579700" y="4665700"/>
            <a:ext cx="1181700" cy="3417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המשך</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graphicFrame>
        <p:nvGraphicFramePr>
          <p:cNvPr id="225" name="Google Shape;225;p35"/>
          <p:cNvGraphicFramePr/>
          <p:nvPr/>
        </p:nvGraphicFramePr>
        <p:xfrm>
          <a:off x="386375" y="911925"/>
          <a:ext cx="3000000" cy="3000000"/>
        </p:xfrm>
        <a:graphic>
          <a:graphicData uri="http://schemas.openxmlformats.org/drawingml/2006/table">
            <a:tbl>
              <a:tblPr>
                <a:noFill/>
                <a:tableStyleId>{A7467B86-B247-44AC-B5B8-EDB4B38FAFC2}</a:tableStyleId>
              </a:tblPr>
              <a:tblGrid>
                <a:gridCol w="652150"/>
                <a:gridCol w="855225"/>
                <a:gridCol w="813075"/>
                <a:gridCol w="722325"/>
                <a:gridCol w="714325"/>
                <a:gridCol w="731075"/>
                <a:gridCol w="3450650"/>
                <a:gridCol w="389150"/>
              </a:tblGrid>
              <a:tr h="329475">
                <a:tc>
                  <a:txBody>
                    <a:bodyPr/>
                    <a:lstStyle/>
                    <a:p>
                      <a:pPr indent="0" lvl="0" marL="0" rtl="1" algn="ctr">
                        <a:lnSpc>
                          <a:spcPct val="100000"/>
                        </a:lnSpc>
                        <a:spcBef>
                          <a:spcPts val="0"/>
                        </a:spcBef>
                        <a:spcAft>
                          <a:spcPts val="0"/>
                        </a:spcAft>
                        <a:buNone/>
                      </a:pPr>
                      <a:r>
                        <a:rPr b="1" lang="en" sz="800"/>
                        <a:t>אין תגובה</a:t>
                      </a:r>
                      <a:endParaRPr b="1" sz="800"/>
                    </a:p>
                  </a:txBody>
                  <a:tcPr marT="0" marB="0"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9D9D9"/>
                    </a:solidFill>
                  </a:tcPr>
                </a:tc>
                <a:tc>
                  <a:txBody>
                    <a:bodyPr/>
                    <a:lstStyle/>
                    <a:p>
                      <a:pPr indent="0" lvl="0" marL="0" rtl="1" algn="ctr">
                        <a:lnSpc>
                          <a:spcPct val="100000"/>
                        </a:lnSpc>
                        <a:spcBef>
                          <a:spcPts val="0"/>
                        </a:spcBef>
                        <a:spcAft>
                          <a:spcPts val="0"/>
                        </a:spcAft>
                        <a:buNone/>
                      </a:pPr>
                      <a:r>
                        <a:rPr b="1" lang="en" sz="800"/>
                        <a:t>מסכים/ה מאוד</a:t>
                      </a:r>
                      <a:endParaRPr b="1" sz="800"/>
                    </a:p>
                  </a:txBody>
                  <a:tcPr marT="0" marB="0"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9D9D9"/>
                    </a:solidFill>
                  </a:tcPr>
                </a:tc>
                <a:tc>
                  <a:txBody>
                    <a:bodyPr/>
                    <a:lstStyle/>
                    <a:p>
                      <a:pPr indent="0" lvl="0" marL="0" rtl="1" algn="ctr">
                        <a:lnSpc>
                          <a:spcPct val="100000"/>
                        </a:lnSpc>
                        <a:spcBef>
                          <a:spcPts val="0"/>
                        </a:spcBef>
                        <a:spcAft>
                          <a:spcPts val="0"/>
                        </a:spcAft>
                        <a:buNone/>
                      </a:pPr>
                      <a:r>
                        <a:rPr b="1" lang="en" sz="800"/>
                        <a:t> די מסכים/ה</a:t>
                      </a:r>
                      <a:endParaRPr b="1" sz="800"/>
                    </a:p>
                  </a:txBody>
                  <a:tcPr marT="0" marB="0"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9D9D9"/>
                    </a:solidFill>
                  </a:tcPr>
                </a:tc>
                <a:tc>
                  <a:txBody>
                    <a:bodyPr/>
                    <a:lstStyle/>
                    <a:p>
                      <a:pPr indent="0" lvl="0" marL="0" rtl="1" algn="ctr">
                        <a:lnSpc>
                          <a:spcPct val="100000"/>
                        </a:lnSpc>
                        <a:spcBef>
                          <a:spcPts val="0"/>
                        </a:spcBef>
                        <a:spcAft>
                          <a:spcPts val="0"/>
                        </a:spcAft>
                        <a:buNone/>
                      </a:pPr>
                      <a:r>
                        <a:rPr b="1" lang="en" sz="800"/>
                        <a:t>ניטרלי/ת</a:t>
                      </a:r>
                      <a:endParaRPr b="1" sz="800"/>
                    </a:p>
                  </a:txBody>
                  <a:tcPr marT="0" marB="0"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9D9D9"/>
                    </a:solidFill>
                  </a:tcPr>
                </a:tc>
                <a:tc>
                  <a:txBody>
                    <a:bodyPr/>
                    <a:lstStyle/>
                    <a:p>
                      <a:pPr indent="0" lvl="0" marL="0" rtl="1" algn="ctr">
                        <a:lnSpc>
                          <a:spcPct val="100000"/>
                        </a:lnSpc>
                        <a:spcBef>
                          <a:spcPts val="0"/>
                        </a:spcBef>
                        <a:spcAft>
                          <a:spcPts val="0"/>
                        </a:spcAft>
                        <a:buNone/>
                      </a:pPr>
                      <a:r>
                        <a:rPr b="1" lang="en" sz="800"/>
                        <a:t>די מתנגד/ת</a:t>
                      </a:r>
                      <a:endParaRPr b="1" sz="800"/>
                    </a:p>
                  </a:txBody>
                  <a:tcPr marT="0" marB="0"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9D9D9"/>
                    </a:solidFill>
                  </a:tcPr>
                </a:tc>
                <a:tc>
                  <a:txBody>
                    <a:bodyPr/>
                    <a:lstStyle/>
                    <a:p>
                      <a:pPr indent="0" lvl="0" marL="0" rtl="1" algn="ctr">
                        <a:lnSpc>
                          <a:spcPct val="100000"/>
                        </a:lnSpc>
                        <a:spcBef>
                          <a:spcPts val="0"/>
                        </a:spcBef>
                        <a:spcAft>
                          <a:spcPts val="0"/>
                        </a:spcAft>
                        <a:buNone/>
                      </a:pPr>
                      <a:r>
                        <a:rPr b="1" lang="en" sz="800"/>
                        <a:t>מתנגד מאוד</a:t>
                      </a:r>
                      <a:endParaRPr b="1" sz="800"/>
                    </a:p>
                  </a:txBody>
                  <a:tcPr marT="0" marB="0"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9D9D9"/>
                    </a:solidFill>
                  </a:tcPr>
                </a:tc>
                <a:tc>
                  <a:txBody>
                    <a:bodyPr/>
                    <a:lstStyle/>
                    <a:p>
                      <a:pPr indent="0" lvl="0" marL="0" rtl="1" algn="ctr">
                        <a:lnSpc>
                          <a:spcPct val="100000"/>
                        </a:lnSpc>
                        <a:spcBef>
                          <a:spcPts val="0"/>
                        </a:spcBef>
                        <a:spcAft>
                          <a:spcPts val="0"/>
                        </a:spcAft>
                        <a:buNone/>
                      </a:pPr>
                      <a:r>
                        <a:rPr b="1" lang="en" sz="800"/>
                        <a:t>היגד</a:t>
                      </a:r>
                      <a:endParaRPr b="1" sz="800"/>
                    </a:p>
                  </a:txBody>
                  <a:tcPr marT="0" marB="0"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9D9D9"/>
                    </a:solidFill>
                  </a:tcPr>
                </a:tc>
                <a:tc>
                  <a:txBody>
                    <a:bodyPr/>
                    <a:lstStyle/>
                    <a:p>
                      <a:pPr indent="0" lvl="0" marL="0" rtl="1" algn="ctr">
                        <a:lnSpc>
                          <a:spcPct val="100000"/>
                        </a:lnSpc>
                        <a:spcBef>
                          <a:spcPts val="0"/>
                        </a:spcBef>
                        <a:spcAft>
                          <a:spcPts val="0"/>
                        </a:spcAft>
                        <a:buNone/>
                      </a:pPr>
                      <a:r>
                        <a:rPr b="1" lang="en" sz="800"/>
                        <a:t>#</a:t>
                      </a:r>
                      <a:endParaRPr b="1" sz="800"/>
                    </a:p>
                  </a:txBody>
                  <a:tcPr marT="0" marB="0"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9D9D9"/>
                    </a:solidFill>
                  </a:tcPr>
                </a:tc>
              </a:tr>
              <a:tr h="264575">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r">
                        <a:lnSpc>
                          <a:spcPct val="115000"/>
                        </a:lnSpc>
                        <a:spcBef>
                          <a:spcPts val="0"/>
                        </a:spcBef>
                        <a:spcAft>
                          <a:spcPts val="0"/>
                        </a:spcAft>
                        <a:buNone/>
                      </a:pPr>
                      <a:r>
                        <a:rPr lang="en" sz="1000"/>
                        <a:t>המערכת מטעה.</a:t>
                      </a:r>
                      <a:endParaRPr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15000"/>
                        </a:lnSpc>
                        <a:spcBef>
                          <a:spcPts val="0"/>
                        </a:spcBef>
                        <a:spcAft>
                          <a:spcPts val="0"/>
                        </a:spcAft>
                        <a:buNone/>
                      </a:pPr>
                      <a:r>
                        <a:rPr lang="en" sz="1000"/>
                        <a:t>1</a:t>
                      </a:r>
                      <a:endParaRPr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4575">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r">
                        <a:lnSpc>
                          <a:spcPct val="115000"/>
                        </a:lnSpc>
                        <a:spcBef>
                          <a:spcPts val="0"/>
                        </a:spcBef>
                        <a:spcAft>
                          <a:spcPts val="0"/>
                        </a:spcAft>
                        <a:buNone/>
                      </a:pPr>
                      <a:r>
                        <a:rPr lang="en" sz="1000"/>
                        <a:t>המערכת מתנהגת באופן ערמומי/בלתי־הוגן.</a:t>
                      </a:r>
                      <a:endParaRPr sz="1000"/>
                    </a:p>
                  </a:txBody>
                  <a:tcPr marT="19050" marB="19050" marR="91425" marL="9142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15000"/>
                        </a:lnSpc>
                        <a:spcBef>
                          <a:spcPts val="0"/>
                        </a:spcBef>
                        <a:spcAft>
                          <a:spcPts val="0"/>
                        </a:spcAft>
                        <a:buNone/>
                      </a:pPr>
                      <a:r>
                        <a:rPr lang="en" sz="1000"/>
                        <a:t>2</a:t>
                      </a:r>
                      <a:endParaRPr sz="1000"/>
                    </a:p>
                  </a:txBody>
                  <a:tcPr marT="19050" marB="19050" marR="91425" marL="9142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4575">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r">
                        <a:lnSpc>
                          <a:spcPct val="115000"/>
                        </a:lnSpc>
                        <a:spcBef>
                          <a:spcPts val="0"/>
                        </a:spcBef>
                        <a:spcAft>
                          <a:spcPts val="0"/>
                        </a:spcAft>
                        <a:buNone/>
                      </a:pPr>
                      <a:r>
                        <a:rPr lang="en" sz="1000"/>
                        <a:t>אני חש/ה חשד כלפי כוונת המערכת, פעולתה או תפוקותיה.</a:t>
                      </a:r>
                      <a:endParaRPr sz="1000"/>
                    </a:p>
                  </a:txBody>
                  <a:tcPr marT="19050" marB="19050" marR="91425" marL="9142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15000"/>
                        </a:lnSpc>
                        <a:spcBef>
                          <a:spcPts val="0"/>
                        </a:spcBef>
                        <a:spcAft>
                          <a:spcPts val="0"/>
                        </a:spcAft>
                        <a:buNone/>
                      </a:pPr>
                      <a:r>
                        <a:rPr lang="en" sz="1000"/>
                        <a:t>3</a:t>
                      </a:r>
                      <a:endParaRPr sz="1000"/>
                    </a:p>
                  </a:txBody>
                  <a:tcPr marT="19050" marB="19050" marR="91425" marL="9142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4575">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r">
                        <a:lnSpc>
                          <a:spcPct val="115000"/>
                        </a:lnSpc>
                        <a:spcBef>
                          <a:spcPts val="0"/>
                        </a:spcBef>
                        <a:spcAft>
                          <a:spcPts val="0"/>
                        </a:spcAft>
                        <a:buNone/>
                      </a:pPr>
                      <a:r>
                        <a:rPr lang="en" sz="1000"/>
                        <a:t>אני נזהר/ת מן המערכת.</a:t>
                      </a:r>
                      <a:endParaRPr sz="1000"/>
                    </a:p>
                  </a:txBody>
                  <a:tcPr marT="19050" marB="19050" marR="91425" marL="9142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15000"/>
                        </a:lnSpc>
                        <a:spcBef>
                          <a:spcPts val="0"/>
                        </a:spcBef>
                        <a:spcAft>
                          <a:spcPts val="0"/>
                        </a:spcAft>
                        <a:buNone/>
                      </a:pPr>
                      <a:r>
                        <a:rPr lang="en" sz="1000"/>
                        <a:t>4</a:t>
                      </a:r>
                      <a:endParaRPr sz="1000"/>
                    </a:p>
                  </a:txBody>
                  <a:tcPr marT="19050" marB="19050" marR="91425" marL="9142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4575">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r">
                        <a:lnSpc>
                          <a:spcPct val="115000"/>
                        </a:lnSpc>
                        <a:spcBef>
                          <a:spcPts val="0"/>
                        </a:spcBef>
                        <a:spcAft>
                          <a:spcPts val="0"/>
                        </a:spcAft>
                        <a:buNone/>
                      </a:pPr>
                      <a:r>
                        <a:rPr lang="en" sz="1000"/>
                        <a:t>פעולת המערכת עלולה להוביל לתוצאה מזיקה או פוגענית.</a:t>
                      </a:r>
                      <a:endParaRPr sz="1000"/>
                    </a:p>
                  </a:txBody>
                  <a:tcPr marT="19050" marB="19050" marR="91425" marL="9142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15000"/>
                        </a:lnSpc>
                        <a:spcBef>
                          <a:spcPts val="0"/>
                        </a:spcBef>
                        <a:spcAft>
                          <a:spcPts val="0"/>
                        </a:spcAft>
                        <a:buNone/>
                      </a:pPr>
                      <a:r>
                        <a:rPr lang="en" sz="1000"/>
                        <a:t>5</a:t>
                      </a:r>
                      <a:endParaRPr sz="1000"/>
                    </a:p>
                  </a:txBody>
                  <a:tcPr marT="19050" marB="19050" marR="91425" marL="9142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4575">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r">
                        <a:lnSpc>
                          <a:spcPct val="115000"/>
                        </a:lnSpc>
                        <a:spcBef>
                          <a:spcPts val="0"/>
                        </a:spcBef>
                        <a:spcAft>
                          <a:spcPts val="0"/>
                        </a:spcAft>
                        <a:buNone/>
                      </a:pPr>
                      <a:r>
                        <a:rPr lang="en" sz="1000"/>
                        <a:t>יש לי ביטחון במערכת.</a:t>
                      </a:r>
                      <a:endParaRPr sz="1000"/>
                    </a:p>
                  </a:txBody>
                  <a:tcPr marT="19050" marB="19050" marR="91425" marL="9142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15000"/>
                        </a:lnSpc>
                        <a:spcBef>
                          <a:spcPts val="0"/>
                        </a:spcBef>
                        <a:spcAft>
                          <a:spcPts val="0"/>
                        </a:spcAft>
                        <a:buNone/>
                      </a:pPr>
                      <a:r>
                        <a:rPr lang="en" sz="1000"/>
                        <a:t>6</a:t>
                      </a:r>
                      <a:endParaRPr sz="1000"/>
                    </a:p>
                  </a:txBody>
                  <a:tcPr marT="19050" marB="19050" marR="91425" marL="9142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4575">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r">
                        <a:lnSpc>
                          <a:spcPct val="115000"/>
                        </a:lnSpc>
                        <a:spcBef>
                          <a:spcPts val="0"/>
                        </a:spcBef>
                        <a:spcAft>
                          <a:spcPts val="0"/>
                        </a:spcAft>
                        <a:buNone/>
                      </a:pPr>
                      <a:r>
                        <a:rPr lang="en" sz="1000"/>
                        <a:t>המערכת מספקת ביטחון.</a:t>
                      </a:r>
                      <a:endParaRPr sz="1000"/>
                    </a:p>
                  </a:txBody>
                  <a:tcPr marT="19050" marB="19050" marR="91425" marL="9142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15000"/>
                        </a:lnSpc>
                        <a:spcBef>
                          <a:spcPts val="0"/>
                        </a:spcBef>
                        <a:spcAft>
                          <a:spcPts val="0"/>
                        </a:spcAft>
                        <a:buNone/>
                      </a:pPr>
                      <a:r>
                        <a:rPr lang="en" sz="1000"/>
                        <a:t>7</a:t>
                      </a:r>
                      <a:endParaRPr sz="1000"/>
                    </a:p>
                  </a:txBody>
                  <a:tcPr marT="19050" marB="19050" marR="91425" marL="9142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4575">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r">
                        <a:lnSpc>
                          <a:spcPct val="115000"/>
                        </a:lnSpc>
                        <a:spcBef>
                          <a:spcPts val="0"/>
                        </a:spcBef>
                        <a:spcAft>
                          <a:spcPts val="0"/>
                        </a:spcAft>
                        <a:buNone/>
                      </a:pPr>
                      <a:r>
                        <a:rPr lang="en" sz="1000"/>
                        <a:t>למערכת יש יושרה.</a:t>
                      </a:r>
                      <a:endParaRPr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15000"/>
                        </a:lnSpc>
                        <a:spcBef>
                          <a:spcPts val="0"/>
                        </a:spcBef>
                        <a:spcAft>
                          <a:spcPts val="0"/>
                        </a:spcAft>
                        <a:buNone/>
                      </a:pPr>
                      <a:r>
                        <a:rPr lang="en" sz="1000"/>
                        <a:t>8</a:t>
                      </a:r>
                      <a:endParaRPr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4575">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r">
                        <a:lnSpc>
                          <a:spcPct val="115000"/>
                        </a:lnSpc>
                        <a:spcBef>
                          <a:spcPts val="0"/>
                        </a:spcBef>
                        <a:spcAft>
                          <a:spcPts val="0"/>
                        </a:spcAft>
                        <a:buNone/>
                      </a:pPr>
                      <a:r>
                        <a:rPr lang="en" sz="1000"/>
                        <a:t>ניתן לסמוך על המערכת.</a:t>
                      </a:r>
                      <a:endParaRPr sz="1000"/>
                    </a:p>
                  </a:txBody>
                  <a:tcPr marT="19050" marB="19050" marR="91425" marL="9142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15000"/>
                        </a:lnSpc>
                        <a:spcBef>
                          <a:spcPts val="0"/>
                        </a:spcBef>
                        <a:spcAft>
                          <a:spcPts val="0"/>
                        </a:spcAft>
                        <a:buNone/>
                      </a:pPr>
                      <a:r>
                        <a:rPr lang="en" sz="1000"/>
                        <a:t>9</a:t>
                      </a:r>
                      <a:endParaRPr sz="1000"/>
                    </a:p>
                  </a:txBody>
                  <a:tcPr marT="19050" marB="19050" marR="91425" marL="9142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4575">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r">
                        <a:lnSpc>
                          <a:spcPct val="115000"/>
                        </a:lnSpc>
                        <a:spcBef>
                          <a:spcPts val="0"/>
                        </a:spcBef>
                        <a:spcAft>
                          <a:spcPts val="0"/>
                        </a:spcAft>
                        <a:buNone/>
                      </a:pPr>
                      <a:r>
                        <a:rPr lang="en" sz="1000"/>
                        <a:t>המערכת אמינה.</a:t>
                      </a:r>
                      <a:endParaRPr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15000"/>
                        </a:lnSpc>
                        <a:spcBef>
                          <a:spcPts val="0"/>
                        </a:spcBef>
                        <a:spcAft>
                          <a:spcPts val="0"/>
                        </a:spcAft>
                        <a:buNone/>
                      </a:pPr>
                      <a:r>
                        <a:rPr lang="en" sz="1000"/>
                        <a:t>10</a:t>
                      </a:r>
                      <a:endParaRPr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4575">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r">
                        <a:lnSpc>
                          <a:spcPct val="115000"/>
                        </a:lnSpc>
                        <a:spcBef>
                          <a:spcPts val="0"/>
                        </a:spcBef>
                        <a:spcAft>
                          <a:spcPts val="0"/>
                        </a:spcAft>
                        <a:buNone/>
                      </a:pPr>
                      <a:r>
                        <a:rPr lang="en" sz="1000"/>
                        <a:t>אני יכול/ה לבטוח במערכת.</a:t>
                      </a:r>
                      <a:endParaRPr sz="1000"/>
                    </a:p>
                  </a:txBody>
                  <a:tcPr marT="19050" marB="19050" marR="91425" marL="9142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15000"/>
                        </a:lnSpc>
                        <a:spcBef>
                          <a:spcPts val="0"/>
                        </a:spcBef>
                        <a:spcAft>
                          <a:spcPts val="0"/>
                        </a:spcAft>
                        <a:buNone/>
                      </a:pPr>
                      <a:r>
                        <a:rPr lang="en" sz="1000"/>
                        <a:t>11</a:t>
                      </a:r>
                      <a:endParaRPr sz="1000"/>
                    </a:p>
                  </a:txBody>
                  <a:tcPr marT="19050" marB="19050" marR="91425" marL="9142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4575">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r">
                        <a:lnSpc>
                          <a:spcPct val="115000"/>
                        </a:lnSpc>
                        <a:spcBef>
                          <a:spcPts val="0"/>
                        </a:spcBef>
                        <a:spcAft>
                          <a:spcPts val="0"/>
                        </a:spcAft>
                        <a:buNone/>
                      </a:pPr>
                      <a:r>
                        <a:rPr lang="en" sz="1000"/>
                        <a:t>אני מכיר/ה את המערכת.</a:t>
                      </a:r>
                      <a:endParaRPr sz="1000"/>
                    </a:p>
                  </a:txBody>
                  <a:tcPr marT="19050" marB="19050" marR="91425" marL="9142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15000"/>
                        </a:lnSpc>
                        <a:spcBef>
                          <a:spcPts val="0"/>
                        </a:spcBef>
                        <a:spcAft>
                          <a:spcPts val="0"/>
                        </a:spcAft>
                        <a:buNone/>
                      </a:pPr>
                      <a:r>
                        <a:rPr lang="en" sz="1000"/>
                        <a:t>12</a:t>
                      </a:r>
                      <a:endParaRPr sz="1000"/>
                    </a:p>
                  </a:txBody>
                  <a:tcPr marT="19050" marB="19050" marR="91425" marL="9142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26" name="Google Shape;226;p35"/>
          <p:cNvSpPr/>
          <p:nvPr/>
        </p:nvSpPr>
        <p:spPr>
          <a:xfrm>
            <a:off x="579700" y="4665700"/>
            <a:ext cx="1181700" cy="3417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המשך</a:t>
            </a:r>
            <a:endParaRPr/>
          </a:p>
        </p:txBody>
      </p:sp>
      <p:sp>
        <p:nvSpPr>
          <p:cNvPr id="227" name="Google Shape;227;p35"/>
          <p:cNvSpPr txBox="1"/>
          <p:nvPr>
            <p:ph idx="1" type="body"/>
          </p:nvPr>
        </p:nvSpPr>
        <p:spPr>
          <a:xfrm>
            <a:off x="175300" y="0"/>
            <a:ext cx="8657100" cy="912000"/>
          </a:xfrm>
          <a:prstGeom prst="rect">
            <a:avLst/>
          </a:prstGeom>
        </p:spPr>
        <p:txBody>
          <a:bodyPr anchorCtr="0" anchor="t" bIns="91425" lIns="91425" spcFirstLastPara="1" rIns="91425" wrap="square" tIns="91425">
            <a:noAutofit/>
          </a:bodyPr>
          <a:lstStyle/>
          <a:p>
            <a:pPr indent="0" lvl="0" marL="0" rtl="1" algn="r">
              <a:lnSpc>
                <a:spcPct val="100000"/>
              </a:lnSpc>
              <a:spcBef>
                <a:spcPts val="0"/>
              </a:spcBef>
              <a:spcAft>
                <a:spcPts val="0"/>
              </a:spcAft>
              <a:buNone/>
            </a:pPr>
            <a:r>
              <a:rPr b="1" lang="en" sz="2400">
                <a:solidFill>
                  <a:schemeClr val="dk1"/>
                </a:solidFill>
              </a:rPr>
              <a:t>שאלון סיכום</a:t>
            </a:r>
            <a:endParaRPr b="1" sz="2400">
              <a:solidFill>
                <a:schemeClr val="dk1"/>
              </a:solidFill>
            </a:endParaRPr>
          </a:p>
          <a:p>
            <a:pPr indent="0" lvl="0" marL="0" rtl="1" algn="r">
              <a:lnSpc>
                <a:spcPct val="100000"/>
              </a:lnSpc>
              <a:spcBef>
                <a:spcPts val="1200"/>
              </a:spcBef>
              <a:spcAft>
                <a:spcPts val="1200"/>
              </a:spcAft>
              <a:buNone/>
            </a:pPr>
            <a:r>
              <a:rPr lang="en" sz="1400">
                <a:solidFill>
                  <a:schemeClr val="dk1"/>
                </a:solidFill>
              </a:rPr>
              <a:t>דרג/י את ההיגדים הבאים לגבי המערכת בה התנסית בהתאם לתחושות מכלל התרחישים</a:t>
            </a:r>
            <a:endParaRPr sz="105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6"/>
          <p:cNvSpPr txBox="1"/>
          <p:nvPr>
            <p:ph idx="1" type="body"/>
          </p:nvPr>
        </p:nvSpPr>
        <p:spPr>
          <a:xfrm>
            <a:off x="175300" y="433650"/>
            <a:ext cx="8657100" cy="4059600"/>
          </a:xfrm>
          <a:prstGeom prst="rect">
            <a:avLst/>
          </a:prstGeom>
        </p:spPr>
        <p:txBody>
          <a:bodyPr anchorCtr="0" anchor="t" bIns="91425" lIns="91425" spcFirstLastPara="1" rIns="91425" wrap="square" tIns="91425">
            <a:noAutofit/>
          </a:bodyPr>
          <a:lstStyle/>
          <a:p>
            <a:pPr indent="0" lvl="0" marL="0" rtl="1" algn="ctr">
              <a:spcBef>
                <a:spcPts val="0"/>
              </a:spcBef>
              <a:spcAft>
                <a:spcPts val="0"/>
              </a:spcAft>
              <a:buNone/>
            </a:pPr>
            <a:r>
              <a:rPr b="1" lang="en"/>
              <a:t>התחלת מודל בינה מלאכותית B</a:t>
            </a:r>
            <a:endParaRPr b="1"/>
          </a:p>
          <a:p>
            <a:pPr indent="0" lvl="0" marL="0" rtl="1" algn="r">
              <a:spcBef>
                <a:spcPts val="1200"/>
              </a:spcBef>
              <a:spcAft>
                <a:spcPts val="0"/>
              </a:spcAft>
              <a:buNone/>
            </a:pPr>
            <a:r>
              <a:rPr lang="en"/>
              <a:t>בלחיצה על המשך יוצגו לפניך מספר תרחישים שמדמים מערכת לתכנון מסלול נסיעה באמצעות בינה מלאכותית שמשתמשת במודל מסוג B </a:t>
            </a:r>
            <a:endParaRPr/>
          </a:p>
          <a:p>
            <a:pPr indent="0" lvl="0" marL="0" rtl="1" algn="r">
              <a:spcBef>
                <a:spcPts val="1200"/>
              </a:spcBef>
              <a:spcAft>
                <a:spcPts val="1200"/>
              </a:spcAft>
              <a:buNone/>
            </a:pPr>
            <a:r>
              <a:t/>
            </a:r>
            <a:endParaRPr sz="1050"/>
          </a:p>
        </p:txBody>
      </p:sp>
      <p:sp>
        <p:nvSpPr>
          <p:cNvPr id="233" name="Google Shape;233;p36"/>
          <p:cNvSpPr/>
          <p:nvPr/>
        </p:nvSpPr>
        <p:spPr>
          <a:xfrm>
            <a:off x="579700" y="4665700"/>
            <a:ext cx="1181700" cy="3417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המשך</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7"/>
          <p:cNvSpPr txBox="1"/>
          <p:nvPr>
            <p:ph idx="1" type="body"/>
          </p:nvPr>
        </p:nvSpPr>
        <p:spPr>
          <a:xfrm>
            <a:off x="311700" y="702850"/>
            <a:ext cx="8520600" cy="3416400"/>
          </a:xfrm>
          <a:prstGeom prst="rect">
            <a:avLst/>
          </a:prstGeom>
        </p:spPr>
        <p:txBody>
          <a:bodyPr anchorCtr="0" anchor="ctr" bIns="91425" lIns="91425" spcFirstLastPara="1" rIns="91425" wrap="square" tIns="91425">
            <a:normAutofit/>
          </a:bodyPr>
          <a:lstStyle/>
          <a:p>
            <a:pPr indent="0" lvl="0" marL="0" rtl="1" algn="ctr">
              <a:spcBef>
                <a:spcPts val="0"/>
              </a:spcBef>
              <a:spcAft>
                <a:spcPts val="0"/>
              </a:spcAft>
              <a:buNone/>
            </a:pPr>
            <a:r>
              <a:rPr lang="en"/>
              <a:t>סיימת את כל התרחישים ב2 המודלים</a:t>
            </a:r>
            <a:endParaRPr/>
          </a:p>
          <a:p>
            <a:pPr indent="0" lvl="0" marL="0" rtl="1" algn="ctr">
              <a:spcBef>
                <a:spcPts val="1200"/>
              </a:spcBef>
              <a:spcAft>
                <a:spcPts val="1200"/>
              </a:spcAft>
              <a:buNone/>
            </a:pPr>
            <a:r>
              <a:rPr lang="en"/>
              <a:t>לחיצה על המשך תעביר לשלב האחרון של הניסוי: שאלון סיכום </a:t>
            </a:r>
            <a:endParaRPr/>
          </a:p>
        </p:txBody>
      </p:sp>
      <p:sp>
        <p:nvSpPr>
          <p:cNvPr id="239" name="Google Shape;239;p37"/>
          <p:cNvSpPr/>
          <p:nvPr/>
        </p:nvSpPr>
        <p:spPr>
          <a:xfrm>
            <a:off x="579700" y="4665700"/>
            <a:ext cx="1181700" cy="3417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המשך</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8"/>
          <p:cNvSpPr/>
          <p:nvPr/>
        </p:nvSpPr>
        <p:spPr>
          <a:xfrm>
            <a:off x="579700" y="4665700"/>
            <a:ext cx="1181700" cy="3417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המשך</a:t>
            </a:r>
            <a:endParaRPr/>
          </a:p>
        </p:txBody>
      </p:sp>
      <p:sp>
        <p:nvSpPr>
          <p:cNvPr id="245" name="Google Shape;245;p38"/>
          <p:cNvSpPr txBox="1"/>
          <p:nvPr>
            <p:ph idx="1" type="body"/>
          </p:nvPr>
        </p:nvSpPr>
        <p:spPr>
          <a:xfrm>
            <a:off x="175300" y="433650"/>
            <a:ext cx="8657100" cy="4059600"/>
          </a:xfrm>
          <a:prstGeom prst="rect">
            <a:avLst/>
          </a:prstGeom>
        </p:spPr>
        <p:txBody>
          <a:bodyPr anchorCtr="0" anchor="t" bIns="91425" lIns="91425" spcFirstLastPara="1" rIns="91425" wrap="square" tIns="91425">
            <a:noAutofit/>
          </a:bodyPr>
          <a:lstStyle/>
          <a:p>
            <a:pPr indent="0" lvl="0" marL="0" rtl="1" algn="r">
              <a:spcBef>
                <a:spcPts val="1200"/>
              </a:spcBef>
              <a:spcAft>
                <a:spcPts val="0"/>
              </a:spcAft>
              <a:buNone/>
            </a:pPr>
            <a:r>
              <a:rPr b="1" lang="en" sz="1300">
                <a:solidFill>
                  <a:schemeClr val="dk1"/>
                </a:solidFill>
              </a:rPr>
              <a:t>אמון במודל</a:t>
            </a:r>
            <a:endParaRPr b="1" sz="1300">
              <a:solidFill>
                <a:schemeClr val="dk1"/>
              </a:solidFill>
            </a:endParaRPr>
          </a:p>
          <a:p>
            <a:pPr indent="0" lvl="0" marL="0" rtl="1" algn="r">
              <a:spcBef>
                <a:spcPts val="1200"/>
              </a:spcBef>
              <a:spcAft>
                <a:spcPts val="1200"/>
              </a:spcAft>
              <a:buNone/>
            </a:pPr>
            <a:r>
              <a:t/>
            </a:r>
            <a:endParaRPr sz="950"/>
          </a:p>
        </p:txBody>
      </p:sp>
      <p:graphicFrame>
        <p:nvGraphicFramePr>
          <p:cNvPr id="246" name="Google Shape;246;p38"/>
          <p:cNvGraphicFramePr/>
          <p:nvPr/>
        </p:nvGraphicFramePr>
        <p:xfrm>
          <a:off x="1929388" y="1378700"/>
          <a:ext cx="3000000" cy="3000000"/>
        </p:xfrm>
        <a:graphic>
          <a:graphicData uri="http://schemas.openxmlformats.org/drawingml/2006/table">
            <a:tbl>
              <a:tblPr>
                <a:noFill/>
                <a:tableStyleId>{A7467B86-B247-44AC-B5B8-EDB4B38FAFC2}</a:tableStyleId>
              </a:tblPr>
              <a:tblGrid>
                <a:gridCol w="714325"/>
                <a:gridCol w="731075"/>
                <a:gridCol w="3450650"/>
                <a:gridCol w="389150"/>
              </a:tblGrid>
              <a:tr h="593350">
                <a:tc>
                  <a:txBody>
                    <a:bodyPr/>
                    <a:lstStyle/>
                    <a:p>
                      <a:pPr indent="0" lvl="0" marL="0" rtl="0" algn="ctr">
                        <a:lnSpc>
                          <a:spcPct val="100000"/>
                        </a:lnSpc>
                        <a:spcBef>
                          <a:spcPts val="0"/>
                        </a:spcBef>
                        <a:spcAft>
                          <a:spcPts val="0"/>
                        </a:spcAft>
                        <a:buNone/>
                      </a:pPr>
                      <a:r>
                        <a:rPr b="1" lang="en" sz="800"/>
                        <a:t>B</a:t>
                      </a:r>
                      <a:endParaRPr b="1"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9D9D9"/>
                    </a:solidFill>
                  </a:tcPr>
                </a:tc>
                <a:tc>
                  <a:txBody>
                    <a:bodyPr/>
                    <a:lstStyle/>
                    <a:p>
                      <a:pPr indent="0" lvl="0" marL="0" rtl="0" algn="ctr">
                        <a:lnSpc>
                          <a:spcPct val="100000"/>
                        </a:lnSpc>
                        <a:spcBef>
                          <a:spcPts val="0"/>
                        </a:spcBef>
                        <a:spcAft>
                          <a:spcPts val="0"/>
                        </a:spcAft>
                        <a:buNone/>
                      </a:pPr>
                      <a:r>
                        <a:rPr b="1" lang="en" sz="800"/>
                        <a:t>A</a:t>
                      </a:r>
                      <a:endParaRPr b="1"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9D9D9"/>
                    </a:solidFill>
                  </a:tcPr>
                </a:tc>
                <a:tc>
                  <a:txBody>
                    <a:bodyPr/>
                    <a:lstStyle/>
                    <a:p>
                      <a:pPr indent="0" lvl="0" marL="0" rtl="1" algn="ctr">
                        <a:lnSpc>
                          <a:spcPct val="100000"/>
                        </a:lnSpc>
                        <a:spcBef>
                          <a:spcPts val="0"/>
                        </a:spcBef>
                        <a:spcAft>
                          <a:spcPts val="0"/>
                        </a:spcAft>
                        <a:buNone/>
                      </a:pPr>
                      <a:r>
                        <a:rPr b="1" lang="en" sz="800"/>
                        <a:t>שאלה</a:t>
                      </a:r>
                      <a:endParaRPr b="1"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9D9D9"/>
                    </a:solidFill>
                  </a:tcPr>
                </a:tc>
                <a:tc>
                  <a:txBody>
                    <a:bodyPr/>
                    <a:lstStyle/>
                    <a:p>
                      <a:pPr indent="0" lvl="0" marL="0" rtl="1" algn="ctr">
                        <a:lnSpc>
                          <a:spcPct val="100000"/>
                        </a:lnSpc>
                        <a:spcBef>
                          <a:spcPts val="0"/>
                        </a:spcBef>
                        <a:spcAft>
                          <a:spcPts val="0"/>
                        </a:spcAft>
                        <a:buNone/>
                      </a:pPr>
                      <a:r>
                        <a:rPr b="1" lang="en" sz="800"/>
                        <a:t>#</a:t>
                      </a:r>
                      <a:endParaRPr b="1"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9D9D9"/>
                    </a:solidFill>
                  </a:tcPr>
                </a:tc>
              </a:tr>
              <a:tr h="476450">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00000"/>
                        </a:lnSpc>
                        <a:spcBef>
                          <a:spcPts val="0"/>
                        </a:spcBef>
                        <a:spcAft>
                          <a:spcPts val="0"/>
                        </a:spcAft>
                        <a:buNone/>
                      </a:pPr>
                      <a:r>
                        <a:rPr lang="en" sz="800">
                          <a:solidFill>
                            <a:schemeClr val="dk1"/>
                          </a:solidFill>
                        </a:rPr>
                        <a:t>🔘</a:t>
                      </a:r>
                      <a:endParaRPr sz="800"/>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r">
                        <a:lnSpc>
                          <a:spcPct val="115000"/>
                        </a:lnSpc>
                        <a:spcBef>
                          <a:spcPts val="0"/>
                        </a:spcBef>
                        <a:spcAft>
                          <a:spcPts val="0"/>
                        </a:spcAft>
                        <a:buNone/>
                      </a:pPr>
                      <a:r>
                        <a:rPr lang="en" sz="1000"/>
                        <a:t>איזה מודל חשת שנתן המלצות בצורה אמינה יותר?</a:t>
                      </a:r>
                      <a:endParaRPr sz="1000"/>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1" algn="ctr">
                        <a:lnSpc>
                          <a:spcPct val="115000"/>
                        </a:lnSpc>
                        <a:spcBef>
                          <a:spcPts val="0"/>
                        </a:spcBef>
                        <a:spcAft>
                          <a:spcPts val="0"/>
                        </a:spcAft>
                        <a:buNone/>
                      </a:pPr>
                      <a:r>
                        <a:rPr lang="en" sz="1000"/>
                        <a:t>1</a:t>
                      </a:r>
                      <a:endParaRPr sz="1000"/>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9"/>
          <p:cNvSpPr/>
          <p:nvPr/>
        </p:nvSpPr>
        <p:spPr>
          <a:xfrm>
            <a:off x="579700" y="4665700"/>
            <a:ext cx="1181700" cy="3417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המשך</a:t>
            </a:r>
            <a:endParaRPr/>
          </a:p>
        </p:txBody>
      </p:sp>
      <p:sp>
        <p:nvSpPr>
          <p:cNvPr id="252" name="Google Shape;252;p39"/>
          <p:cNvSpPr txBox="1"/>
          <p:nvPr>
            <p:ph idx="1" type="body"/>
          </p:nvPr>
        </p:nvSpPr>
        <p:spPr>
          <a:xfrm>
            <a:off x="175300" y="433650"/>
            <a:ext cx="8657100" cy="4059600"/>
          </a:xfrm>
          <a:prstGeom prst="rect">
            <a:avLst/>
          </a:prstGeom>
        </p:spPr>
        <p:txBody>
          <a:bodyPr anchorCtr="0" anchor="t" bIns="91425" lIns="91425" spcFirstLastPara="1" rIns="91425" wrap="square" tIns="91425">
            <a:noAutofit/>
          </a:bodyPr>
          <a:lstStyle/>
          <a:p>
            <a:pPr indent="0" lvl="0" marL="0" rtl="1" algn="r">
              <a:spcBef>
                <a:spcPts val="1200"/>
              </a:spcBef>
              <a:spcAft>
                <a:spcPts val="0"/>
              </a:spcAft>
              <a:buNone/>
            </a:pPr>
            <a:r>
              <a:rPr b="1" lang="en" sz="1300">
                <a:solidFill>
                  <a:schemeClr val="dk1"/>
                </a:solidFill>
              </a:rPr>
              <a:t>מאפיינים דמוגרפיים ורקע שימושי (לניתוח סטטיסטי בלבד)</a:t>
            </a:r>
            <a:endParaRPr b="1" sz="1300">
              <a:solidFill>
                <a:schemeClr val="dk1"/>
              </a:solidFill>
            </a:endParaRPr>
          </a:p>
          <a:p>
            <a:pPr indent="0" lvl="0" marL="0" rtl="1" algn="r">
              <a:spcBef>
                <a:spcPts val="1200"/>
              </a:spcBef>
              <a:spcAft>
                <a:spcPts val="0"/>
              </a:spcAft>
              <a:buNone/>
            </a:pPr>
            <a:r>
              <a:rPr lang="en" sz="1100">
                <a:solidFill>
                  <a:schemeClr val="dk1"/>
                </a:solidFill>
              </a:rPr>
              <a:t>אנא השיב/י לכל שאלה כמיטב ידיעתך. המידע נאסף לצרכים סטטיסטיים בלבד; לא ייאספו ולא יפורסמו פרטים מזהים.</a:t>
            </a:r>
            <a:endParaRPr b="1" sz="1100">
              <a:solidFill>
                <a:schemeClr val="dk1"/>
              </a:solidFill>
            </a:endParaRPr>
          </a:p>
          <a:p>
            <a:pPr indent="-292100" lvl="0" marL="457200" rtl="1" algn="r">
              <a:spcBef>
                <a:spcPts val="1200"/>
              </a:spcBef>
              <a:spcAft>
                <a:spcPts val="0"/>
              </a:spcAft>
              <a:buClr>
                <a:schemeClr val="dk1"/>
              </a:buClr>
              <a:buSzPts val="1000"/>
              <a:buAutoNum type="arabicPeriod"/>
            </a:pPr>
            <a:r>
              <a:rPr b="1" lang="en" sz="1000">
                <a:solidFill>
                  <a:schemeClr val="dk1"/>
                </a:solidFill>
              </a:rPr>
              <a:t>גיל (בשנים)</a:t>
            </a:r>
            <a:r>
              <a:rPr lang="en" sz="1000">
                <a:solidFill>
                  <a:schemeClr val="dk1"/>
                </a:solidFill>
              </a:rPr>
              <a:t>: ____</a:t>
            </a:r>
            <a:endParaRPr sz="1000">
              <a:solidFill>
                <a:schemeClr val="dk1"/>
              </a:solidFill>
            </a:endParaRPr>
          </a:p>
          <a:p>
            <a:pPr indent="-292100" lvl="0" marL="457200" rtl="1" algn="r">
              <a:spcBef>
                <a:spcPts val="0"/>
              </a:spcBef>
              <a:spcAft>
                <a:spcPts val="0"/>
              </a:spcAft>
              <a:buClr>
                <a:schemeClr val="dk1"/>
              </a:buClr>
              <a:buSzPts val="1000"/>
              <a:buAutoNum type="arabicPeriod"/>
            </a:pPr>
            <a:r>
              <a:rPr b="1" lang="en" sz="1000">
                <a:solidFill>
                  <a:schemeClr val="dk1"/>
                </a:solidFill>
              </a:rPr>
              <a:t>מגדר:</a:t>
            </a:r>
            <a:endParaRPr b="1" sz="1000">
              <a:solidFill>
                <a:schemeClr val="dk1"/>
              </a:solidFill>
            </a:endParaRPr>
          </a:p>
          <a:p>
            <a:pPr indent="-292100" lvl="1" marL="914400" rtl="1" algn="r">
              <a:spcBef>
                <a:spcPts val="0"/>
              </a:spcBef>
              <a:spcAft>
                <a:spcPts val="0"/>
              </a:spcAft>
              <a:buClr>
                <a:schemeClr val="dk1"/>
              </a:buClr>
              <a:buSzPts val="1000"/>
              <a:buChar char="○"/>
            </a:pPr>
            <a:r>
              <a:rPr lang="en" sz="1000">
                <a:solidFill>
                  <a:schemeClr val="dk1"/>
                </a:solidFill>
              </a:rPr>
              <a:t>אישה</a:t>
            </a:r>
            <a:endParaRPr sz="1000">
              <a:solidFill>
                <a:schemeClr val="dk1"/>
              </a:solidFill>
            </a:endParaRPr>
          </a:p>
          <a:p>
            <a:pPr indent="-292100" lvl="1" marL="914400" rtl="1" algn="r">
              <a:spcBef>
                <a:spcPts val="0"/>
              </a:spcBef>
              <a:spcAft>
                <a:spcPts val="0"/>
              </a:spcAft>
              <a:buClr>
                <a:schemeClr val="dk1"/>
              </a:buClr>
              <a:buSzPts val="1000"/>
              <a:buChar char="○"/>
            </a:pPr>
            <a:r>
              <a:rPr lang="en" sz="1000">
                <a:solidFill>
                  <a:schemeClr val="dk1"/>
                </a:solidFill>
              </a:rPr>
              <a:t>גבר</a:t>
            </a:r>
            <a:endParaRPr sz="1000">
              <a:solidFill>
                <a:schemeClr val="dk1"/>
              </a:solidFill>
            </a:endParaRPr>
          </a:p>
          <a:p>
            <a:pPr indent="-292100" lvl="1" marL="914400" rtl="1" algn="r">
              <a:spcBef>
                <a:spcPts val="0"/>
              </a:spcBef>
              <a:spcAft>
                <a:spcPts val="0"/>
              </a:spcAft>
              <a:buClr>
                <a:schemeClr val="dk1"/>
              </a:buClr>
              <a:buSzPts val="1000"/>
              <a:buChar char="○"/>
            </a:pPr>
            <a:r>
              <a:rPr lang="en" sz="1000">
                <a:solidFill>
                  <a:schemeClr val="dk1"/>
                </a:solidFill>
              </a:rPr>
              <a:t>אחר</a:t>
            </a:r>
            <a:endParaRPr sz="1000">
              <a:solidFill>
                <a:schemeClr val="dk1"/>
              </a:solidFill>
            </a:endParaRPr>
          </a:p>
          <a:p>
            <a:pPr indent="-292100" lvl="1" marL="914400" rtl="1" algn="r">
              <a:spcBef>
                <a:spcPts val="0"/>
              </a:spcBef>
              <a:spcAft>
                <a:spcPts val="0"/>
              </a:spcAft>
              <a:buClr>
                <a:schemeClr val="dk1"/>
              </a:buClr>
              <a:buSzPts val="1000"/>
              <a:buChar char="○"/>
            </a:pPr>
            <a:r>
              <a:rPr lang="en" sz="1000">
                <a:solidFill>
                  <a:schemeClr val="dk1"/>
                </a:solidFill>
              </a:rPr>
              <a:t>מעדיף/ה לא לענות</a:t>
            </a:r>
            <a:endParaRPr sz="1000">
              <a:solidFill>
                <a:schemeClr val="dk1"/>
              </a:solidFill>
            </a:endParaRPr>
          </a:p>
          <a:p>
            <a:pPr indent="-292100" lvl="0" marL="457200" rtl="1" algn="r">
              <a:spcBef>
                <a:spcPts val="0"/>
              </a:spcBef>
              <a:spcAft>
                <a:spcPts val="0"/>
              </a:spcAft>
              <a:buClr>
                <a:schemeClr val="dk1"/>
              </a:buClr>
              <a:buSzPts val="1000"/>
              <a:buAutoNum type="arabicPeriod"/>
            </a:pPr>
            <a:r>
              <a:rPr b="1" lang="en" sz="1000">
                <a:solidFill>
                  <a:schemeClr val="dk1"/>
                </a:solidFill>
              </a:rPr>
              <a:t>שפת אם</a:t>
            </a:r>
            <a:r>
              <a:rPr lang="en" sz="1000">
                <a:solidFill>
                  <a:schemeClr val="dk1"/>
                </a:solidFill>
              </a:rPr>
              <a:t>: ______</a:t>
            </a:r>
            <a:endParaRPr b="1" sz="1000">
              <a:solidFill>
                <a:schemeClr val="dk1"/>
              </a:solidFill>
            </a:endParaRPr>
          </a:p>
          <a:p>
            <a:pPr indent="-292100" lvl="0" marL="457200" rtl="1" algn="r">
              <a:spcBef>
                <a:spcPts val="0"/>
              </a:spcBef>
              <a:spcAft>
                <a:spcPts val="0"/>
              </a:spcAft>
              <a:buClr>
                <a:schemeClr val="dk1"/>
              </a:buClr>
              <a:buSzPts val="1000"/>
              <a:buAutoNum type="arabicPeriod"/>
            </a:pPr>
            <a:r>
              <a:rPr b="1" lang="en" sz="1000">
                <a:solidFill>
                  <a:schemeClr val="dk1"/>
                </a:solidFill>
              </a:rPr>
              <a:t>תחום לימוד/תעסוקה עיקרי, </a:t>
            </a:r>
            <a:r>
              <a:rPr lang="en" sz="1000">
                <a:solidFill>
                  <a:schemeClr val="dk1"/>
                </a:solidFill>
              </a:rPr>
              <a:t>בחרו אפשרות אחת (או כתבו אחרת):</a:t>
            </a:r>
            <a:endParaRPr sz="1000">
              <a:solidFill>
                <a:schemeClr val="dk1"/>
              </a:solidFill>
            </a:endParaRPr>
          </a:p>
          <a:p>
            <a:pPr indent="-292100" lvl="1" marL="914400" rtl="1" algn="r">
              <a:spcBef>
                <a:spcPts val="0"/>
              </a:spcBef>
              <a:spcAft>
                <a:spcPts val="0"/>
              </a:spcAft>
              <a:buClr>
                <a:schemeClr val="dk1"/>
              </a:buClr>
              <a:buSzPts val="1000"/>
              <a:buChar char="○"/>
            </a:pPr>
            <a:r>
              <a:rPr lang="en" sz="1000">
                <a:solidFill>
                  <a:schemeClr val="dk1"/>
                </a:solidFill>
              </a:rPr>
              <a:t>מדעי המחשב / הנדסה / נתונים</a:t>
            </a:r>
            <a:endParaRPr sz="1000">
              <a:solidFill>
                <a:schemeClr val="dk1"/>
              </a:solidFill>
            </a:endParaRPr>
          </a:p>
          <a:p>
            <a:pPr indent="-292100" lvl="1" marL="914400" rtl="1" algn="r">
              <a:spcBef>
                <a:spcPts val="0"/>
              </a:spcBef>
              <a:spcAft>
                <a:spcPts val="0"/>
              </a:spcAft>
              <a:buClr>
                <a:schemeClr val="dk1"/>
              </a:buClr>
              <a:buSzPts val="1000"/>
              <a:buChar char="○"/>
            </a:pPr>
            <a:r>
              <a:rPr lang="en" sz="1000">
                <a:solidFill>
                  <a:schemeClr val="dk1"/>
                </a:solidFill>
              </a:rPr>
              <a:t>מדעי החברה / חינוך / פסיכולוגיה</a:t>
            </a:r>
            <a:endParaRPr sz="1000">
              <a:solidFill>
                <a:schemeClr val="dk1"/>
              </a:solidFill>
            </a:endParaRPr>
          </a:p>
          <a:p>
            <a:pPr indent="-292100" lvl="1" marL="914400" rtl="1" algn="r">
              <a:spcBef>
                <a:spcPts val="0"/>
              </a:spcBef>
              <a:spcAft>
                <a:spcPts val="0"/>
              </a:spcAft>
              <a:buClr>
                <a:schemeClr val="dk1"/>
              </a:buClr>
              <a:buSzPts val="1000"/>
              <a:buChar char="○"/>
            </a:pPr>
            <a:r>
              <a:rPr lang="en" sz="1000">
                <a:solidFill>
                  <a:schemeClr val="dk1"/>
                </a:solidFill>
              </a:rPr>
              <a:t>מדעי הרוח / אמנויות / תקשורת</a:t>
            </a:r>
            <a:endParaRPr sz="1000">
              <a:solidFill>
                <a:schemeClr val="dk1"/>
              </a:solidFill>
            </a:endParaRPr>
          </a:p>
          <a:p>
            <a:pPr indent="-292100" lvl="1" marL="914400" rtl="1" algn="r">
              <a:spcBef>
                <a:spcPts val="0"/>
              </a:spcBef>
              <a:spcAft>
                <a:spcPts val="0"/>
              </a:spcAft>
              <a:buClr>
                <a:schemeClr val="dk1"/>
              </a:buClr>
              <a:buSzPts val="1000"/>
              <a:buChar char="○"/>
            </a:pPr>
            <a:r>
              <a:rPr lang="en" sz="1000">
                <a:solidFill>
                  <a:schemeClr val="dk1"/>
                </a:solidFill>
              </a:rPr>
              <a:t>מדעי החיים / רפואה / בריאות</a:t>
            </a:r>
            <a:endParaRPr sz="1000">
              <a:solidFill>
                <a:schemeClr val="dk1"/>
              </a:solidFill>
            </a:endParaRPr>
          </a:p>
          <a:p>
            <a:pPr indent="-292100" lvl="1" marL="914400" rtl="1" algn="r">
              <a:spcBef>
                <a:spcPts val="0"/>
              </a:spcBef>
              <a:spcAft>
                <a:spcPts val="0"/>
              </a:spcAft>
              <a:buClr>
                <a:schemeClr val="dk1"/>
              </a:buClr>
              <a:buSzPts val="1000"/>
              <a:buChar char="○"/>
            </a:pPr>
            <a:r>
              <a:rPr lang="en" sz="1000">
                <a:solidFill>
                  <a:schemeClr val="dk1"/>
                </a:solidFill>
              </a:rPr>
              <a:t>משפטים / כלכלה / מנהל עסקים</a:t>
            </a:r>
            <a:endParaRPr sz="1000">
              <a:solidFill>
                <a:schemeClr val="dk1"/>
              </a:solidFill>
            </a:endParaRPr>
          </a:p>
          <a:p>
            <a:pPr indent="-292100" lvl="1" marL="914400" rtl="1" algn="r">
              <a:spcBef>
                <a:spcPts val="0"/>
              </a:spcBef>
              <a:spcAft>
                <a:spcPts val="0"/>
              </a:spcAft>
              <a:buClr>
                <a:schemeClr val="dk1"/>
              </a:buClr>
              <a:buSzPts val="1000"/>
              <a:buChar char="○"/>
            </a:pPr>
            <a:r>
              <a:rPr lang="en" sz="1000">
                <a:solidFill>
                  <a:schemeClr val="dk1"/>
                </a:solidFill>
              </a:rPr>
              <a:t>אחר: ______</a:t>
            </a:r>
            <a:endParaRPr sz="1000">
              <a:solidFill>
                <a:schemeClr val="dk1"/>
              </a:solidFill>
            </a:endParaRPr>
          </a:p>
          <a:p>
            <a:pPr indent="-292100" lvl="0" marL="457200" rtl="1" algn="r">
              <a:spcBef>
                <a:spcPts val="0"/>
              </a:spcBef>
              <a:spcAft>
                <a:spcPts val="0"/>
              </a:spcAft>
              <a:buClr>
                <a:schemeClr val="dk1"/>
              </a:buClr>
              <a:buSzPts val="1000"/>
              <a:buAutoNum type="arabicPeriod"/>
            </a:pPr>
            <a:r>
              <a:rPr b="1" lang="en" sz="1000">
                <a:solidFill>
                  <a:schemeClr val="dk1"/>
                </a:solidFill>
              </a:rPr>
              <a:t>השכלה פורמלית (שהשלמת או שבמהלך הלימודים)</a:t>
            </a:r>
            <a:endParaRPr b="1" sz="1000">
              <a:solidFill>
                <a:schemeClr val="dk1"/>
              </a:solidFill>
            </a:endParaRPr>
          </a:p>
          <a:p>
            <a:pPr indent="-292100" lvl="1" marL="914400" rtl="1" algn="r">
              <a:spcBef>
                <a:spcPts val="0"/>
              </a:spcBef>
              <a:spcAft>
                <a:spcPts val="0"/>
              </a:spcAft>
              <a:buClr>
                <a:schemeClr val="dk1"/>
              </a:buClr>
              <a:buSzPts val="1000"/>
              <a:buChar char="○"/>
            </a:pPr>
            <a:r>
              <a:rPr lang="en" sz="1000">
                <a:solidFill>
                  <a:schemeClr val="dk1"/>
                </a:solidFill>
              </a:rPr>
              <a:t>ללא תואר אקדמי</a:t>
            </a:r>
            <a:endParaRPr sz="1000">
              <a:solidFill>
                <a:schemeClr val="dk1"/>
              </a:solidFill>
            </a:endParaRPr>
          </a:p>
          <a:p>
            <a:pPr indent="-292100" lvl="1" marL="914400" rtl="1" algn="r">
              <a:spcBef>
                <a:spcPts val="0"/>
              </a:spcBef>
              <a:spcAft>
                <a:spcPts val="0"/>
              </a:spcAft>
              <a:buClr>
                <a:schemeClr val="dk1"/>
              </a:buClr>
              <a:buSzPts val="1000"/>
              <a:buChar char="○"/>
            </a:pPr>
            <a:r>
              <a:rPr lang="en" sz="1000">
                <a:solidFill>
                  <a:schemeClr val="dk1"/>
                </a:solidFill>
              </a:rPr>
              <a:t>תעודה/דיפלומה על־תיכונית</a:t>
            </a:r>
            <a:endParaRPr sz="1000">
              <a:solidFill>
                <a:schemeClr val="dk1"/>
              </a:solidFill>
            </a:endParaRPr>
          </a:p>
          <a:p>
            <a:pPr indent="-292100" lvl="1" marL="914400" rtl="1" algn="r">
              <a:spcBef>
                <a:spcPts val="0"/>
              </a:spcBef>
              <a:spcAft>
                <a:spcPts val="0"/>
              </a:spcAft>
              <a:buClr>
                <a:schemeClr val="dk1"/>
              </a:buClr>
              <a:buSzPts val="1000"/>
              <a:buChar char="○"/>
            </a:pPr>
            <a:r>
              <a:rPr lang="en" sz="1000">
                <a:solidFill>
                  <a:schemeClr val="dk1"/>
                </a:solidFill>
              </a:rPr>
              <a:t>תואר ראשון (BA/BSc)</a:t>
            </a:r>
            <a:endParaRPr sz="1000">
              <a:solidFill>
                <a:schemeClr val="dk1"/>
              </a:solidFill>
            </a:endParaRPr>
          </a:p>
          <a:p>
            <a:pPr indent="-292100" lvl="1" marL="914400" rtl="1" algn="r">
              <a:spcBef>
                <a:spcPts val="0"/>
              </a:spcBef>
              <a:spcAft>
                <a:spcPts val="0"/>
              </a:spcAft>
              <a:buClr>
                <a:schemeClr val="dk1"/>
              </a:buClr>
              <a:buSzPts val="1000"/>
              <a:buChar char="○"/>
            </a:pPr>
            <a:r>
              <a:rPr lang="en" sz="1000">
                <a:solidFill>
                  <a:schemeClr val="dk1"/>
                </a:solidFill>
              </a:rPr>
              <a:t>תואר שני (MA/MSc/MBA)</a:t>
            </a:r>
            <a:endParaRPr sz="1000">
              <a:solidFill>
                <a:schemeClr val="dk1"/>
              </a:solidFill>
            </a:endParaRPr>
          </a:p>
          <a:p>
            <a:pPr indent="-292100" lvl="1" marL="914400" rtl="1" algn="r">
              <a:spcBef>
                <a:spcPts val="0"/>
              </a:spcBef>
              <a:spcAft>
                <a:spcPts val="0"/>
              </a:spcAft>
              <a:buClr>
                <a:schemeClr val="dk1"/>
              </a:buClr>
              <a:buSzPts val="1000"/>
              <a:buChar char="○"/>
            </a:pPr>
            <a:r>
              <a:rPr lang="en" sz="1000">
                <a:solidFill>
                  <a:schemeClr val="dk1"/>
                </a:solidFill>
              </a:rPr>
              <a:t>דוקטורט (PhD/MD/… )</a:t>
            </a:r>
            <a:endParaRPr sz="1000">
              <a:solidFill>
                <a:schemeClr val="dk1"/>
              </a:solidFill>
            </a:endParaRPr>
          </a:p>
          <a:p>
            <a:pPr indent="-292100" lvl="1" marL="914400" rtl="1" algn="r">
              <a:spcBef>
                <a:spcPts val="0"/>
              </a:spcBef>
              <a:spcAft>
                <a:spcPts val="0"/>
              </a:spcAft>
              <a:buClr>
                <a:schemeClr val="dk1"/>
              </a:buClr>
              <a:buSzPts val="1000"/>
              <a:buChar char="○"/>
            </a:pPr>
            <a:r>
              <a:rPr lang="en" sz="1000">
                <a:solidFill>
                  <a:schemeClr val="dk1"/>
                </a:solidFill>
              </a:rPr>
              <a:t>אחר: ______</a:t>
            </a:r>
            <a:endParaRPr sz="95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0"/>
          <p:cNvSpPr/>
          <p:nvPr/>
        </p:nvSpPr>
        <p:spPr>
          <a:xfrm>
            <a:off x="579700" y="4665700"/>
            <a:ext cx="1181700" cy="3417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rPr lang="en"/>
              <a:t>סיום</a:t>
            </a:r>
            <a:endParaRPr/>
          </a:p>
        </p:txBody>
      </p:sp>
      <p:sp>
        <p:nvSpPr>
          <p:cNvPr id="258" name="Google Shape;258;p40"/>
          <p:cNvSpPr txBox="1"/>
          <p:nvPr>
            <p:ph idx="1" type="body"/>
          </p:nvPr>
        </p:nvSpPr>
        <p:spPr>
          <a:xfrm>
            <a:off x="175300" y="433650"/>
            <a:ext cx="8657100" cy="4059600"/>
          </a:xfrm>
          <a:prstGeom prst="rect">
            <a:avLst/>
          </a:prstGeom>
        </p:spPr>
        <p:txBody>
          <a:bodyPr anchorCtr="0" anchor="t" bIns="91425" lIns="91425" spcFirstLastPara="1" rIns="91425" wrap="square" tIns="91425">
            <a:noAutofit/>
          </a:bodyPr>
          <a:lstStyle/>
          <a:p>
            <a:pPr indent="0" lvl="0" marL="0" rtl="1" algn="r">
              <a:spcBef>
                <a:spcPts val="1200"/>
              </a:spcBef>
              <a:spcAft>
                <a:spcPts val="0"/>
              </a:spcAft>
              <a:buNone/>
            </a:pPr>
            <a:r>
              <a:rPr b="1" lang="en" sz="1300">
                <a:solidFill>
                  <a:schemeClr val="dk1"/>
                </a:solidFill>
              </a:rPr>
              <a:t>מאפיינים דמוגרפיים ורקע שימושי (לניתוח סטטיסטי בלבד)</a:t>
            </a:r>
            <a:endParaRPr b="1" sz="1300">
              <a:solidFill>
                <a:schemeClr val="dk1"/>
              </a:solidFill>
            </a:endParaRPr>
          </a:p>
          <a:p>
            <a:pPr indent="-311150" lvl="0" marL="457200" rtl="1" algn="r">
              <a:spcBef>
                <a:spcPts val="1200"/>
              </a:spcBef>
              <a:spcAft>
                <a:spcPts val="0"/>
              </a:spcAft>
              <a:buClr>
                <a:schemeClr val="dk1"/>
              </a:buClr>
              <a:buSzPts val="1300"/>
              <a:buAutoNum type="arabicPeriod"/>
            </a:pPr>
            <a:r>
              <a:rPr b="1" lang="en" sz="1300">
                <a:solidFill>
                  <a:schemeClr val="dk1"/>
                </a:solidFill>
              </a:rPr>
              <a:t>רמת אוריינות טכנולוגית</a:t>
            </a:r>
            <a:r>
              <a:rPr lang="en" sz="1300">
                <a:solidFill>
                  <a:schemeClr val="dk1"/>
                </a:solidFill>
              </a:rPr>
              <a:t>- עד כמה את/ה מעריך/ה את יכולתך ללמוד, להגדיר ולפתור תקלות בכלי דיגיטל נפוצים?</a:t>
            </a:r>
            <a:endParaRPr sz="1300">
              <a:solidFill>
                <a:schemeClr val="dk1"/>
              </a:solidFill>
            </a:endParaRPr>
          </a:p>
          <a:p>
            <a:pPr indent="0" lvl="0" marL="914400" rtl="1" algn="r">
              <a:spcBef>
                <a:spcPts val="1200"/>
              </a:spcBef>
              <a:spcAft>
                <a:spcPts val="0"/>
              </a:spcAft>
              <a:buNone/>
            </a:pPr>
            <a:r>
              <a:rPr lang="en" sz="1300">
                <a:solidFill>
                  <a:schemeClr val="dk1"/>
                </a:solidFill>
              </a:rPr>
              <a:t>1 = נמוכה מאוד · 2 = נמוכה · 3 = בינונית · 4 = גבוהה · 5 = גבוהה מאוד</a:t>
            </a:r>
            <a:endParaRPr sz="1300">
              <a:solidFill>
                <a:schemeClr val="dk1"/>
              </a:solidFill>
            </a:endParaRPr>
          </a:p>
          <a:p>
            <a:pPr indent="-311150" lvl="0" marL="457200" rtl="1" algn="r">
              <a:spcBef>
                <a:spcPts val="1200"/>
              </a:spcBef>
              <a:spcAft>
                <a:spcPts val="0"/>
              </a:spcAft>
              <a:buClr>
                <a:schemeClr val="dk1"/>
              </a:buClr>
              <a:buSzPts val="1300"/>
              <a:buAutoNum type="arabicPeriod"/>
            </a:pPr>
            <a:r>
              <a:rPr b="1" lang="en" sz="1300">
                <a:solidFill>
                  <a:schemeClr val="dk1"/>
                </a:solidFill>
              </a:rPr>
              <a:t>שכיחות שימוש במערכות ניווט בעלות ויזואליזציה</a:t>
            </a:r>
            <a:r>
              <a:rPr lang="en" sz="1300">
                <a:solidFill>
                  <a:schemeClr val="dk1"/>
                </a:solidFill>
              </a:rPr>
              <a:t>, באיזו תדירות את/ה משתמש/ת במערכות ניווט עם ייצוג חזותי?</a:t>
            </a:r>
            <a:endParaRPr sz="1300">
              <a:solidFill>
                <a:schemeClr val="dk1"/>
              </a:solidFill>
            </a:endParaRPr>
          </a:p>
          <a:p>
            <a:pPr indent="0" lvl="0" marL="914400" rtl="1" algn="r">
              <a:spcBef>
                <a:spcPts val="1200"/>
              </a:spcBef>
              <a:spcAft>
                <a:spcPts val="0"/>
              </a:spcAft>
              <a:buNone/>
            </a:pPr>
            <a:r>
              <a:rPr lang="en" sz="1300">
                <a:solidFill>
                  <a:schemeClr val="dk1"/>
                </a:solidFill>
              </a:rPr>
              <a:t>1 = לעולם לא · 2 = לעיתים רחוקות · 3 = לעיתים · 4 = לעיתים קרובות · 5 = לעיתים קרובות מאוד</a:t>
            </a:r>
            <a:endParaRPr sz="1300">
              <a:solidFill>
                <a:schemeClr val="dk1"/>
              </a:solidFill>
            </a:endParaRPr>
          </a:p>
          <a:p>
            <a:pPr indent="-311150" lvl="0" marL="457200" rtl="1" algn="r">
              <a:spcBef>
                <a:spcPts val="1200"/>
              </a:spcBef>
              <a:spcAft>
                <a:spcPts val="0"/>
              </a:spcAft>
              <a:buClr>
                <a:schemeClr val="dk1"/>
              </a:buClr>
              <a:buSzPts val="1300"/>
              <a:buAutoNum type="arabicPeriod"/>
            </a:pPr>
            <a:r>
              <a:rPr b="1" lang="en" sz="1300">
                <a:solidFill>
                  <a:schemeClr val="dk1"/>
                </a:solidFill>
              </a:rPr>
              <a:t>ויזואליזציה- </a:t>
            </a:r>
            <a:r>
              <a:rPr lang="en" sz="1300">
                <a:solidFill>
                  <a:schemeClr val="dk1"/>
                </a:solidFill>
              </a:rPr>
              <a:t>עד כמה את/ה מכיר/ה מושגים בסיסיים בויזואליזציה (לדוגמה: שכבות מפה, קנה מידה, צבעים מקודדים)?</a:t>
            </a:r>
            <a:endParaRPr sz="1300">
              <a:solidFill>
                <a:schemeClr val="dk1"/>
              </a:solidFill>
            </a:endParaRPr>
          </a:p>
          <a:p>
            <a:pPr indent="0" lvl="0" marL="914400" rtl="1" algn="r">
              <a:spcBef>
                <a:spcPts val="1200"/>
              </a:spcBef>
              <a:spcAft>
                <a:spcPts val="1200"/>
              </a:spcAft>
              <a:buNone/>
            </a:pPr>
            <a:r>
              <a:rPr lang="en" sz="1300">
                <a:solidFill>
                  <a:schemeClr val="dk1"/>
                </a:solidFill>
              </a:rPr>
              <a:t>1= כלל לא · 2 = במידה מועטה · 3 = במידה בינונית · 4 = במידה רבה · 5 = במידה רבה מאוד</a:t>
            </a:r>
            <a:endParaRPr sz="13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1"/>
          <p:cNvSpPr txBox="1"/>
          <p:nvPr>
            <p:ph idx="1" type="body"/>
          </p:nvPr>
        </p:nvSpPr>
        <p:spPr>
          <a:xfrm>
            <a:off x="175300" y="433650"/>
            <a:ext cx="8657100" cy="4059600"/>
          </a:xfrm>
          <a:prstGeom prst="rect">
            <a:avLst/>
          </a:prstGeom>
        </p:spPr>
        <p:txBody>
          <a:bodyPr anchorCtr="0" anchor="ctr" bIns="91425" lIns="91425" spcFirstLastPara="1" rIns="91425" wrap="square" tIns="91425">
            <a:noAutofit/>
          </a:bodyPr>
          <a:lstStyle/>
          <a:p>
            <a:pPr indent="0" lvl="0" marL="0" rtl="1" algn="ctr">
              <a:lnSpc>
                <a:spcPct val="150000"/>
              </a:lnSpc>
              <a:spcBef>
                <a:spcPts val="1200"/>
              </a:spcBef>
              <a:spcAft>
                <a:spcPts val="0"/>
              </a:spcAft>
              <a:buNone/>
            </a:pPr>
            <a:r>
              <a:rPr lang="en" sz="1700">
                <a:solidFill>
                  <a:schemeClr val="dk1"/>
                </a:solidFill>
              </a:rPr>
              <a:t>תודה שהשתתפת בניסוי</a:t>
            </a:r>
            <a:endParaRPr sz="1700">
              <a:solidFill>
                <a:schemeClr val="dk1"/>
              </a:solidFill>
            </a:endParaRPr>
          </a:p>
          <a:p>
            <a:pPr indent="0" lvl="0" marL="0" rtl="1" algn="ctr">
              <a:lnSpc>
                <a:spcPct val="150000"/>
              </a:lnSpc>
              <a:spcBef>
                <a:spcPts val="1200"/>
              </a:spcBef>
              <a:spcAft>
                <a:spcPts val="0"/>
              </a:spcAft>
              <a:buNone/>
            </a:pPr>
            <a:r>
              <a:rPr lang="en" sz="1700">
                <a:solidFill>
                  <a:schemeClr val="dk1"/>
                </a:solidFill>
              </a:rPr>
              <a:t>כעת נערום ראיון קצר על החווייה שלך בניסוי</a:t>
            </a:r>
            <a:endParaRPr sz="1700">
              <a:solidFill>
                <a:schemeClr val="dk1"/>
              </a:solidFill>
            </a:endParaRPr>
          </a:p>
          <a:p>
            <a:pPr indent="0" lvl="0" marL="0" rtl="1" algn="ctr">
              <a:lnSpc>
                <a:spcPct val="150000"/>
              </a:lnSpc>
              <a:spcBef>
                <a:spcPts val="1200"/>
              </a:spcBef>
              <a:spcAft>
                <a:spcPts val="0"/>
              </a:spcAft>
              <a:buNone/>
            </a:pPr>
            <a:r>
              <a:rPr lang="en" sz="1700">
                <a:solidFill>
                  <a:schemeClr val="dk1"/>
                </a:solidFill>
              </a:rPr>
              <a:t>בסיומו תקבל את התגמול</a:t>
            </a:r>
            <a:endParaRPr sz="1700">
              <a:solidFill>
                <a:schemeClr val="dk1"/>
              </a:solidFill>
            </a:endParaRPr>
          </a:p>
          <a:p>
            <a:pPr indent="0" lvl="0" marL="457200" rtl="1" algn="ctr">
              <a:lnSpc>
                <a:spcPct val="115000"/>
              </a:lnSpc>
              <a:spcBef>
                <a:spcPts val="1200"/>
              </a:spcBef>
              <a:spcAft>
                <a:spcPts val="0"/>
              </a:spcAft>
              <a:buNone/>
            </a:pPr>
            <a:r>
              <a:t/>
            </a:r>
            <a:endParaRPr sz="1550" strike="sngStrike"/>
          </a:p>
          <a:p>
            <a:pPr indent="0" lvl="0" marL="0" rtl="1" algn="ctr">
              <a:lnSpc>
                <a:spcPct val="115000"/>
              </a:lnSpc>
              <a:spcBef>
                <a:spcPts val="1200"/>
              </a:spcBef>
              <a:spcAft>
                <a:spcPts val="1200"/>
              </a:spcAft>
              <a:buNone/>
            </a:pPr>
            <a:r>
              <a:t/>
            </a:r>
            <a:endParaRPr sz="155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2"/>
          <p:cNvSpPr txBox="1"/>
          <p:nvPr/>
        </p:nvSpPr>
        <p:spPr>
          <a:xfrm>
            <a:off x="861934" y="2138909"/>
            <a:ext cx="7420200" cy="463800"/>
          </a:xfrm>
          <a:prstGeom prst="rect">
            <a:avLst/>
          </a:prstGeom>
          <a:noFill/>
          <a:ln>
            <a:noFill/>
          </a:ln>
        </p:spPr>
        <p:txBody>
          <a:bodyPr anchorCtr="0" anchor="t" bIns="91425" lIns="91425" spcFirstLastPara="1" rIns="91425" wrap="square" tIns="91425">
            <a:spAutoFit/>
          </a:bodyPr>
          <a:lstStyle/>
          <a:p>
            <a:pPr indent="0" lvl="0" marL="0" rtl="1" algn="ctr">
              <a:spcBef>
                <a:spcPts val="0"/>
              </a:spcBef>
              <a:spcAft>
                <a:spcPts val="0"/>
              </a:spcAft>
              <a:buNone/>
            </a:pPr>
            <a:r>
              <a:rPr lang="en" sz="1800">
                <a:solidFill>
                  <a:schemeClr val="dk2"/>
                </a:solidFill>
              </a:rPr>
              <a:t>ויזואליזציות</a:t>
            </a:r>
            <a:endParaRPr sz="18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pic>
        <p:nvPicPr>
          <p:cNvPr id="273" name="Google Shape;273;p43"/>
          <p:cNvPicPr preferRelativeResize="0"/>
          <p:nvPr/>
        </p:nvPicPr>
        <p:blipFill>
          <a:blip r:embed="rId3">
            <a:alphaModFix/>
          </a:blip>
          <a:stretch>
            <a:fillRect/>
          </a:stretch>
        </p:blipFill>
        <p:spPr>
          <a:xfrm>
            <a:off x="32488" y="0"/>
            <a:ext cx="9079035" cy="51434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id="278" name="Google Shape;278;p44"/>
          <p:cNvPicPr preferRelativeResize="0"/>
          <p:nvPr/>
        </p:nvPicPr>
        <p:blipFill>
          <a:blip r:embed="rId3">
            <a:alphaModFix/>
          </a:blip>
          <a:stretch>
            <a:fillRect/>
          </a:stretch>
        </p:blipFill>
        <p:spPr>
          <a:xfrm>
            <a:off x="0" y="0"/>
            <a:ext cx="9102150" cy="507609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p45"/>
          <p:cNvPicPr preferRelativeResize="0"/>
          <p:nvPr/>
        </p:nvPicPr>
        <p:blipFill>
          <a:blip r:embed="rId3">
            <a:alphaModFix/>
          </a:blip>
          <a:stretch>
            <a:fillRect/>
          </a:stretch>
        </p:blipFill>
        <p:spPr>
          <a:xfrm>
            <a:off x="0" y="-14862"/>
            <a:ext cx="9143999" cy="517322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